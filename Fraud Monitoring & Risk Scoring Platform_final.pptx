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6" r:id="rId2"/>
    <p:sldId id="271" r:id="rId3"/>
    <p:sldId id="270" r:id="rId4"/>
    <p:sldId id="264" r:id="rId5"/>
    <p:sldId id="259" r:id="rId6"/>
    <p:sldId id="269" r:id="rId7"/>
    <p:sldId id="258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68D5E5-E410-47DC-ADCA-658E5CCCFACE}" v="63" dt="2026-04-07T17:09:16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28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3E28C-D534-4F33-BF7C-2EA6E5E8142F}" type="datetimeFigureOut">
              <a:t>गुरुवार, 19 चैत्र 1948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03EC3-0B74-4A98-8588-3173FF2A927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69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" name="Shape 1"/>
          <p:cNvSpPr/>
          <p:nvPr/>
        </p:nvSpPr>
        <p:spPr>
          <a:xfrm>
            <a:off x="10012680" y="137160"/>
            <a:ext cx="1783080" cy="1783080"/>
          </a:xfrm>
          <a:prstGeom prst="ellipse">
            <a:avLst/>
          </a:prstGeom>
          <a:solidFill>
            <a:srgbClr val="1E5A8A">
              <a:alpha val="45000"/>
            </a:srgbClr>
          </a:solidFill>
          <a:ln w="12700">
            <a:solidFill>
              <a:srgbClr val="1E5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4" name="Shape 2"/>
          <p:cNvSpPr/>
          <p:nvPr/>
        </p:nvSpPr>
        <p:spPr>
          <a:xfrm>
            <a:off x="109728" y="5486400"/>
            <a:ext cx="1051560" cy="1051560"/>
          </a:xfrm>
          <a:prstGeom prst="ellipse">
            <a:avLst/>
          </a:prstGeom>
          <a:solidFill>
            <a:srgbClr val="1FB6B2">
              <a:alpha val="30000"/>
            </a:srgbClr>
          </a:solidFill>
          <a:ln w="12700">
            <a:solidFill>
              <a:srgbClr val="1FB6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5" name="Shape 3"/>
          <p:cNvSpPr/>
          <p:nvPr/>
        </p:nvSpPr>
        <p:spPr>
          <a:xfrm>
            <a:off x="10469880" y="5440680"/>
            <a:ext cx="1097280" cy="109728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6" name="Shape 4"/>
          <p:cNvSpPr/>
          <p:nvPr/>
        </p:nvSpPr>
        <p:spPr>
          <a:xfrm>
            <a:off x="502920" y="640080"/>
            <a:ext cx="3017520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7" name="Text 5"/>
          <p:cNvSpPr/>
          <p:nvPr/>
        </p:nvSpPr>
        <p:spPr>
          <a:xfrm>
            <a:off x="713232" y="704088"/>
            <a:ext cx="2578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Monitoring Platform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Monitoring &amp;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Platform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" y="2816352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 bank-grade workflow for message screening, transaction monitoring, alert handling, audit logging, and report export.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3703320"/>
            <a:ext cx="1188720" cy="246888"/>
          </a:xfrm>
          <a:prstGeom prst="rect">
            <a:avLst/>
          </a:prstGeom>
          <a:solidFill>
            <a:srgbClr val="1FB6B2"/>
          </a:solidFill>
          <a:ln>
            <a:solidFill>
              <a:srgbClr val="1FB6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View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38528" y="3703320"/>
            <a:ext cx="1207008" cy="2468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27832" y="3703320"/>
            <a:ext cx="1298448" cy="246888"/>
          </a:xfrm>
          <a:prstGeom prst="rect">
            <a:avLst/>
          </a:prstGeom>
          <a:solidFill>
            <a:srgbClr val="E45756"/>
          </a:solidFill>
          <a:ln>
            <a:solidFill>
              <a:srgbClr val="E4575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17720" y="3703320"/>
            <a:ext cx="1143000" cy="24688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06640" y="914400"/>
            <a:ext cx="3977640" cy="4526280"/>
          </a:xfrm>
          <a:prstGeom prst="roundRect">
            <a:avLst>
              <a:gd name="adj" fmla="val 1839"/>
            </a:avLst>
          </a:prstGeom>
          <a:solidFill>
            <a:srgbClr val="163A5F"/>
          </a:solidFill>
          <a:ln w="12700">
            <a:solidFill>
              <a:srgbClr val="2F567D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5" name="Text 13"/>
          <p:cNvSpPr/>
          <p:nvPr/>
        </p:nvSpPr>
        <p:spPr>
          <a:xfrm>
            <a:off x="7717536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Flow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82128" y="1719072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1FB6B2"/>
          </a:solidFill>
          <a:ln w="12700">
            <a:solidFill>
              <a:srgbClr val="1FB6B2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17" name="Text 15"/>
          <p:cNvSpPr/>
          <p:nvPr/>
        </p:nvSpPr>
        <p:spPr>
          <a:xfrm>
            <a:off x="7882128" y="18288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 rot="5400000">
            <a:off x="9144000" y="2276856"/>
            <a:ext cx="548640" cy="219456"/>
          </a:xfrm>
          <a:prstGeom prst="chevron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19" name="Shape 17"/>
          <p:cNvSpPr/>
          <p:nvPr/>
        </p:nvSpPr>
        <p:spPr>
          <a:xfrm>
            <a:off x="7882128" y="2615184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20" name="Text 18"/>
          <p:cNvSpPr/>
          <p:nvPr/>
        </p:nvSpPr>
        <p:spPr>
          <a:xfrm>
            <a:off x="7882128" y="2724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 rot="5400000">
            <a:off x="9144000" y="3172968"/>
            <a:ext cx="548640" cy="219456"/>
          </a:xfrm>
          <a:prstGeom prst="chevron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22" name="Shape 20"/>
          <p:cNvSpPr/>
          <p:nvPr/>
        </p:nvSpPr>
        <p:spPr>
          <a:xfrm>
            <a:off x="7882128" y="3511296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23" name="Text 21"/>
          <p:cNvSpPr/>
          <p:nvPr/>
        </p:nvSpPr>
        <p:spPr>
          <a:xfrm>
            <a:off x="7882128" y="362102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Engine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 rot="5400000">
            <a:off x="9144000" y="4069080"/>
            <a:ext cx="548640" cy="219456"/>
          </a:xfrm>
          <a:prstGeom prst="chevron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25" name="Shape 23"/>
          <p:cNvSpPr/>
          <p:nvPr/>
        </p:nvSpPr>
        <p:spPr>
          <a:xfrm>
            <a:off x="7882128" y="4407408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26" name="Text 24"/>
          <p:cNvSpPr/>
          <p:nvPr/>
        </p:nvSpPr>
        <p:spPr>
          <a:xfrm>
            <a:off x="7882128" y="451713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&amp; Actions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35824" y="509320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rule-based checks, ML scores, and customer context.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6656" y="59618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analysts, bankers, compliance teams, and admins.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647985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12191695" cy="73152"/>
          </a:xfrm>
          <a:prstGeom prst="rect">
            <a:avLst/>
          </a:prstGeom>
          <a:solidFill>
            <a:srgbClr val="1FB6B2"/>
          </a:solidFill>
          <a:ln w="12700">
            <a:solidFill>
              <a:srgbClr val="1FB6B2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4" name="Shape 2"/>
          <p:cNvSpPr/>
          <p:nvPr/>
        </p:nvSpPr>
        <p:spPr>
          <a:xfrm>
            <a:off x="10561320" y="73152"/>
            <a:ext cx="1325880" cy="1325880"/>
          </a:xfrm>
          <a:prstGeom prst="ellipse">
            <a:avLst/>
          </a:prstGeom>
          <a:solidFill>
            <a:srgbClr val="EAF3FF">
              <a:alpha val="82000"/>
            </a:srgbClr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5" name="Shape 3"/>
          <p:cNvSpPr/>
          <p:nvPr/>
        </p:nvSpPr>
        <p:spPr>
          <a:xfrm>
            <a:off x="45720" y="5623560"/>
            <a:ext cx="1005840" cy="1005840"/>
          </a:xfrm>
          <a:prstGeom prst="ellipse">
            <a:avLst/>
          </a:prstGeom>
          <a:solidFill>
            <a:srgbClr val="FFF4DB">
              <a:alpha val="85000"/>
            </a:srgbClr>
          </a:solidFill>
          <a:ln w="12700">
            <a:solidFill>
              <a:srgbClr val="FFF4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7" name="Text 5"/>
          <p:cNvSpPr/>
          <p:nvPr/>
        </p:nvSpPr>
        <p:spPr>
          <a:xfrm>
            <a:off x="1051560" y="4206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Functional Modules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80467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Business-facing features exposed by the Flask application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3246120" cy="1335024"/>
          </a:xfrm>
          <a:prstGeom prst="roundRect">
            <a:avLst>
              <a:gd name="adj" fmla="val 5479"/>
            </a:avLst>
          </a:prstGeom>
          <a:solidFill>
            <a:srgbClr val="DFF7F7"/>
          </a:solidFill>
          <a:ln w="12700">
            <a:solidFill>
              <a:srgbClr val="1FB6B2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1" name="Shape 9"/>
          <p:cNvSpPr/>
          <p:nvPr/>
        </p:nvSpPr>
        <p:spPr>
          <a:xfrm>
            <a:off x="804672" y="2057400"/>
            <a:ext cx="384048" cy="384048"/>
          </a:xfrm>
          <a:prstGeom prst="ellipse">
            <a:avLst/>
          </a:prstGeom>
          <a:solidFill>
            <a:srgbClr val="1FB6B2"/>
          </a:solidFill>
          <a:ln w="12700">
            <a:solidFill>
              <a:srgbClr val="1FB6B2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12" name="Text 10"/>
          <p:cNvSpPr/>
          <p:nvPr/>
        </p:nvSpPr>
        <p:spPr>
          <a:xfrm>
            <a:off x="804672" y="24780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Verify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2743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messages and stores predictions.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96512" y="1874520"/>
            <a:ext cx="3246120" cy="1335024"/>
          </a:xfrm>
          <a:prstGeom prst="roundRect">
            <a:avLst>
              <a:gd name="adj" fmla="val 5479"/>
            </a:avLst>
          </a:prstGeom>
          <a:solidFill>
            <a:srgbClr val="FFF4DB"/>
          </a:solidFill>
          <a:ln w="12700">
            <a:solidFill>
              <a:srgbClr val="F59E0B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5" name="Shape 13"/>
          <p:cNvSpPr/>
          <p:nvPr/>
        </p:nvSpPr>
        <p:spPr>
          <a:xfrm>
            <a:off x="4261104" y="205740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16" name="Text 14"/>
          <p:cNvSpPr/>
          <p:nvPr/>
        </p:nvSpPr>
        <p:spPr>
          <a:xfrm>
            <a:off x="4261104" y="24780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Monitor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61104" y="2743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transactions by search, amount, and risk.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52944" y="1874520"/>
            <a:ext cx="3246120" cy="1335024"/>
          </a:xfrm>
          <a:prstGeom prst="roundRect">
            <a:avLst>
              <a:gd name="adj" fmla="val 5479"/>
            </a:avLst>
          </a:prstGeom>
          <a:solidFill>
            <a:srgbClr val="DCEAFF"/>
          </a:solidFill>
          <a:ln w="12700">
            <a:solidFill>
              <a:srgbClr val="3B82F6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9" name="Shape 17"/>
          <p:cNvSpPr/>
          <p:nvPr/>
        </p:nvSpPr>
        <p:spPr>
          <a:xfrm>
            <a:off x="7717536" y="2057400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20" name="Text 18"/>
          <p:cNvSpPr/>
          <p:nvPr/>
        </p:nvSpPr>
        <p:spPr>
          <a:xfrm>
            <a:off x="7717536" y="24780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Profile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17536" y="2743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 messages, txns, alerts, and risk score.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657600"/>
            <a:ext cx="3246120" cy="1335024"/>
          </a:xfrm>
          <a:prstGeom prst="roundRect">
            <a:avLst>
              <a:gd name="adj" fmla="val 5479"/>
            </a:avLst>
          </a:prstGeom>
          <a:solidFill>
            <a:srgbClr val="E9F9EE"/>
          </a:solidFill>
          <a:ln w="12700">
            <a:solidFill>
              <a:srgbClr val="2F9E44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23" name="Shape 21"/>
          <p:cNvSpPr/>
          <p:nvPr/>
        </p:nvSpPr>
        <p:spPr>
          <a:xfrm>
            <a:off x="804672" y="3840480"/>
            <a:ext cx="384048" cy="384048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24" name="Text 22"/>
          <p:cNvSpPr/>
          <p:nvPr/>
        </p:nvSpPr>
        <p:spPr>
          <a:xfrm>
            <a:off x="804672" y="4261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Queue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4526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queue for open, escalated, and closed alerts.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096512" y="3657600"/>
            <a:ext cx="3246120" cy="1335024"/>
          </a:xfrm>
          <a:prstGeom prst="roundRect">
            <a:avLst>
              <a:gd name="adj" fmla="val 5479"/>
            </a:avLst>
          </a:prstGeom>
          <a:solidFill>
            <a:srgbClr val="FDECEC"/>
          </a:solidFill>
          <a:ln w="12700">
            <a:solidFill>
              <a:srgbClr val="E45756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27" name="Shape 25"/>
          <p:cNvSpPr/>
          <p:nvPr/>
        </p:nvSpPr>
        <p:spPr>
          <a:xfrm>
            <a:off x="4261104" y="3840480"/>
            <a:ext cx="384048" cy="384048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28" name="Text 26"/>
          <p:cNvSpPr/>
          <p:nvPr/>
        </p:nvSpPr>
        <p:spPr>
          <a:xfrm>
            <a:off x="4261104" y="4261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61104" y="4526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CSV, Excel, and PDF outputs.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52944" y="3657600"/>
            <a:ext cx="3246120" cy="1335024"/>
          </a:xfrm>
          <a:prstGeom prst="roundRect">
            <a:avLst>
              <a:gd name="adj" fmla="val 5479"/>
            </a:avLst>
          </a:prstGeom>
          <a:solidFill>
            <a:srgbClr val="F3E8FF"/>
          </a:solidFill>
          <a:ln w="12700">
            <a:solidFill>
              <a:srgbClr val="8B5CF6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31" name="Shape 29"/>
          <p:cNvSpPr/>
          <p:nvPr/>
        </p:nvSpPr>
        <p:spPr>
          <a:xfrm>
            <a:off x="7717536" y="384048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2" name="Text 30"/>
          <p:cNvSpPr/>
          <p:nvPr/>
        </p:nvSpPr>
        <p:spPr>
          <a:xfrm>
            <a:off x="7717536" y="4261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Settings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17536" y="4526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rule thresholds and keeps audit trace.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5349240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35" name="Text 33"/>
          <p:cNvSpPr/>
          <p:nvPr/>
        </p:nvSpPr>
        <p:spPr>
          <a:xfrm>
            <a:off x="877824" y="5577840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is organized as Flask blueprints: auth, main, api, admin, and reports - each handling a specific workflow and role boundary.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5925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12191695" cy="73152"/>
          </a:xfrm>
          <a:prstGeom prst="rect">
            <a:avLst/>
          </a:prstGeom>
          <a:solidFill>
            <a:srgbClr val="1FB6B2"/>
          </a:solidFill>
          <a:ln w="12700">
            <a:solidFill>
              <a:srgbClr val="1FB6B2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4" name="Shape 2"/>
          <p:cNvSpPr/>
          <p:nvPr/>
        </p:nvSpPr>
        <p:spPr>
          <a:xfrm>
            <a:off x="10561320" y="73152"/>
            <a:ext cx="1325880" cy="1325880"/>
          </a:xfrm>
          <a:prstGeom prst="ellipse">
            <a:avLst/>
          </a:prstGeom>
          <a:solidFill>
            <a:srgbClr val="EAF3FF">
              <a:alpha val="82000"/>
            </a:srgbClr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5" name="Shape 3"/>
          <p:cNvSpPr/>
          <p:nvPr/>
        </p:nvSpPr>
        <p:spPr>
          <a:xfrm>
            <a:off x="45720" y="5623560"/>
            <a:ext cx="1005840" cy="1005840"/>
          </a:xfrm>
          <a:prstGeom prst="ellipse">
            <a:avLst/>
          </a:prstGeom>
          <a:solidFill>
            <a:srgbClr val="FFF4DB">
              <a:alpha val="85000"/>
            </a:srgbClr>
          </a:solidFill>
          <a:ln w="12700">
            <a:solidFill>
              <a:srgbClr val="FFF4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7" name="Text 5"/>
          <p:cNvSpPr/>
          <p:nvPr/>
        </p:nvSpPr>
        <p:spPr>
          <a:xfrm>
            <a:off x="1051560" y="4206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80467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message or transaction becomes an alert and case action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078992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10" name="Shape 8"/>
          <p:cNvSpPr/>
          <p:nvPr/>
        </p:nvSpPr>
        <p:spPr>
          <a:xfrm>
            <a:off x="566928" y="1847088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EAF7F7"/>
          </a:solidFill>
          <a:ln w="12700">
            <a:solidFill>
              <a:srgbClr val="1FB6B2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1" name="Shape 9"/>
          <p:cNvSpPr/>
          <p:nvPr/>
        </p:nvSpPr>
        <p:spPr>
          <a:xfrm>
            <a:off x="704088" y="1993392"/>
            <a:ext cx="411480" cy="411480"/>
          </a:xfrm>
          <a:prstGeom prst="ellipse">
            <a:avLst/>
          </a:prstGeom>
          <a:solidFill>
            <a:srgbClr val="1FB6B2"/>
          </a:solidFill>
          <a:ln w="12700">
            <a:solidFill>
              <a:srgbClr val="1FB6B2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12" name="Text 10"/>
          <p:cNvSpPr/>
          <p:nvPr/>
        </p:nvSpPr>
        <p:spPr>
          <a:xfrm>
            <a:off x="704088" y="205740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7008" y="19751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event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1520" y="25420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message or transaction is submitted through the UI or API.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64992" y="2679192"/>
            <a:ext cx="320040" cy="182880"/>
          </a:xfrm>
          <a:prstGeom prst="chevron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16" name="Shape 14"/>
          <p:cNvSpPr/>
          <p:nvPr/>
        </p:nvSpPr>
        <p:spPr>
          <a:xfrm>
            <a:off x="3456432" y="1847088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FFF4DB"/>
          </a:solidFill>
          <a:ln w="12700">
            <a:solidFill>
              <a:srgbClr val="F59E0B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7" name="Shape 15"/>
          <p:cNvSpPr/>
          <p:nvPr/>
        </p:nvSpPr>
        <p:spPr>
          <a:xfrm>
            <a:off x="3593592" y="199339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18" name="Text 16"/>
          <p:cNvSpPr/>
          <p:nvPr/>
        </p:nvSpPr>
        <p:spPr>
          <a:xfrm>
            <a:off x="3593592" y="205740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96512" y="19751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risk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621024" y="25420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 + ML + customer context generate a score and category.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54496" y="2679192"/>
            <a:ext cx="320040" cy="182880"/>
          </a:xfrm>
          <a:prstGeom prst="chevron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22" name="Shape 20"/>
          <p:cNvSpPr/>
          <p:nvPr/>
        </p:nvSpPr>
        <p:spPr>
          <a:xfrm>
            <a:off x="6345936" y="1847088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EEF4FF"/>
          </a:solidFill>
          <a:ln w="12700">
            <a:solidFill>
              <a:srgbClr val="3B82F6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23" name="Shape 21"/>
          <p:cNvSpPr/>
          <p:nvPr/>
        </p:nvSpPr>
        <p:spPr>
          <a:xfrm>
            <a:off x="6483096" y="1993392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24" name="Text 22"/>
          <p:cNvSpPr/>
          <p:nvPr/>
        </p:nvSpPr>
        <p:spPr>
          <a:xfrm>
            <a:off x="6483096" y="205740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86016" y="19751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alert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10528" y="25420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events automatically create an open alert.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0" y="2679192"/>
            <a:ext cx="320040" cy="182880"/>
          </a:xfrm>
          <a:prstGeom prst="chevron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28" name="Shape 26"/>
          <p:cNvSpPr/>
          <p:nvPr/>
        </p:nvSpPr>
        <p:spPr>
          <a:xfrm>
            <a:off x="9235440" y="1847088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FDECEC"/>
          </a:solidFill>
          <a:ln w="12700">
            <a:solidFill>
              <a:srgbClr val="E45756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29" name="Shape 27"/>
          <p:cNvSpPr/>
          <p:nvPr/>
        </p:nvSpPr>
        <p:spPr>
          <a:xfrm>
            <a:off x="9372600" y="1993392"/>
            <a:ext cx="411480" cy="411480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0" name="Text 28"/>
          <p:cNvSpPr/>
          <p:nvPr/>
        </p:nvSpPr>
        <p:spPr>
          <a:xfrm>
            <a:off x="9372600" y="205740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875520" y="19751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action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400032" y="25420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call, freeze, escalate, or mark safe.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4315968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34" name="Text 32"/>
          <p:cNvSpPr/>
          <p:nvPr/>
        </p:nvSpPr>
        <p:spPr>
          <a:xfrm>
            <a:off x="822960" y="45262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outcomes by risk level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49040" y="4572000"/>
            <a:ext cx="1508760" cy="658368"/>
          </a:xfrm>
          <a:prstGeom prst="roundRect">
            <a:avLst>
              <a:gd name="adj" fmla="val 13889"/>
            </a:avLst>
          </a:prstGeom>
          <a:solidFill>
            <a:srgbClr val="E9F9EE"/>
          </a:solidFill>
          <a:ln w="12700">
            <a:solidFill>
              <a:srgbClr val="2F9E44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6" name="Text 34"/>
          <p:cNvSpPr/>
          <p:nvPr/>
        </p:nvSpPr>
        <p:spPr>
          <a:xfrm>
            <a:off x="3749040" y="4690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9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749040" y="4910328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only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0" y="4572000"/>
            <a:ext cx="1508760" cy="658368"/>
          </a:xfrm>
          <a:prstGeom prst="roundRect">
            <a:avLst>
              <a:gd name="adj" fmla="val 13889"/>
            </a:avLst>
          </a:prstGeom>
          <a:solidFill>
            <a:srgbClr val="EAF3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9" name="Text 37"/>
          <p:cNvSpPr/>
          <p:nvPr/>
        </p:nvSpPr>
        <p:spPr>
          <a:xfrm>
            <a:off x="5486400" y="4690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0" y="4910328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543800" y="4572000"/>
            <a:ext cx="1508760" cy="658368"/>
          </a:xfrm>
          <a:prstGeom prst="roundRect">
            <a:avLst>
              <a:gd name="adj" fmla="val 13889"/>
            </a:avLst>
          </a:prstGeom>
          <a:solidFill>
            <a:srgbClr val="FFF4D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42" name="Text 40"/>
          <p:cNvSpPr/>
          <p:nvPr/>
        </p:nvSpPr>
        <p:spPr>
          <a:xfrm>
            <a:off x="7543800" y="4690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543800" y="4910328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customer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601200" y="4572000"/>
            <a:ext cx="1508760" cy="658368"/>
          </a:xfrm>
          <a:prstGeom prst="roundRect">
            <a:avLst>
              <a:gd name="adj" fmla="val 13889"/>
            </a:avLst>
          </a:prstGeom>
          <a:solidFill>
            <a:srgbClr val="FDECEC"/>
          </a:solidFill>
          <a:ln w="12700">
            <a:solidFill>
              <a:srgbClr val="E45756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45" name="Text 43"/>
          <p:cNvSpPr/>
          <p:nvPr/>
        </p:nvSpPr>
        <p:spPr>
          <a:xfrm>
            <a:off x="9601200" y="4690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45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601200" y="4910328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+ escalate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300520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4" name="Shape 2"/>
          <p:cNvSpPr/>
          <p:nvPr/>
        </p:nvSpPr>
        <p:spPr>
          <a:xfrm>
            <a:off x="502920" y="6656832"/>
            <a:ext cx="1097280" cy="640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Security, Audit Trail, and Reporting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D"/>
                </a:solidFill>
              </a:rPr>
              <a:t>The platform is designed for traceability and safe handling of customer information.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241280" y="34747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8" name="Text 6"/>
          <p:cNvSpPr/>
          <p:nvPr/>
        </p:nvSpPr>
        <p:spPr>
          <a:xfrm>
            <a:off x="10241280" y="4206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3B5C"/>
                </a:solidFill>
              </a:rPr>
              <a:t>Control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078992"/>
            <a:ext cx="11155680" cy="512064"/>
          </a:xfrm>
          <a:prstGeom prst="roundRect">
            <a:avLst>
              <a:gd name="adj" fmla="val 7143"/>
            </a:avLst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0" name="Text 8"/>
          <p:cNvSpPr/>
          <p:nvPr/>
        </p:nvSpPr>
        <p:spPr>
          <a:xfrm>
            <a:off x="685800" y="115214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Operational controls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1371600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4"/>
                </a:solidFill>
              </a:rPr>
              <a:t>Authentication, masking, and evidence generation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828800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EAF4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3" name="Text 11"/>
          <p:cNvSpPr/>
          <p:nvPr/>
        </p:nvSpPr>
        <p:spPr>
          <a:xfrm>
            <a:off x="786384" y="19385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Authentication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2231136"/>
            <a:ext cx="25786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Flask-Login controls access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Passwords are stored as hashes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Login and logout are audited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712464" y="1828800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E8F6F2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6" name="Text 14"/>
          <p:cNvSpPr/>
          <p:nvPr/>
        </p:nvSpPr>
        <p:spPr>
          <a:xfrm>
            <a:off x="3840480" y="19385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Role control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40480" y="2231136"/>
            <a:ext cx="25786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Banker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Fraud Analyst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Compliance Officer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Admin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766560" y="182880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1E6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9" name="Text 17"/>
          <p:cNvSpPr/>
          <p:nvPr/>
        </p:nvSpPr>
        <p:spPr>
          <a:xfrm>
            <a:off x="6894576" y="193852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Data masking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94576" y="2231136"/>
            <a:ext cx="2441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Phone, email, and account values are masked before display or review.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9710928" y="1828800"/>
            <a:ext cx="1755648" cy="1783080"/>
          </a:xfrm>
          <a:prstGeom prst="roundRect">
            <a:avLst>
              <a:gd name="adj" fmla="val 4167"/>
            </a:avLst>
          </a:prstGeom>
          <a:solidFill>
            <a:srgbClr val="F3EC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22" name="Text 20"/>
          <p:cNvSpPr/>
          <p:nvPr/>
        </p:nvSpPr>
        <p:spPr>
          <a:xfrm>
            <a:off x="9838944" y="193852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Audit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38944" y="2231136"/>
            <a:ext cx="14996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D3D"/>
                </a:solidFill>
              </a:rPr>
              <a:t>Every key action is recorded for review.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58368" y="3822192"/>
            <a:ext cx="53035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25" name="Text 23"/>
          <p:cNvSpPr/>
          <p:nvPr/>
        </p:nvSpPr>
        <p:spPr>
          <a:xfrm>
            <a:off x="786384" y="3931920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Reports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6384" y="4224528"/>
            <a:ext cx="5047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• CSV export for quick data sharing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• Excel export for analyst workbooks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• PDF export for formatted compliance packs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199632" y="3822192"/>
            <a:ext cx="5266944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28" name="Text 26"/>
          <p:cNvSpPr/>
          <p:nvPr/>
        </p:nvSpPr>
        <p:spPr>
          <a:xfrm>
            <a:off x="6327648" y="3931920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Why this matters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27648" y="4224528"/>
            <a:ext cx="5010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A fraud workflow must be explainable after the event. The code keeps prediction, action, and audit data separate so investigations are defensible.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58368" y="5623560"/>
            <a:ext cx="10972800" cy="621792"/>
          </a:xfrm>
          <a:prstGeom prst="roundRect">
            <a:avLst>
              <a:gd name="adj" fmla="val 4412"/>
            </a:avLst>
          </a:prstGeom>
          <a:solidFill>
            <a:srgbClr val="1F507A"/>
          </a:solidFill>
          <a:ln w="12700">
            <a:solidFill>
              <a:srgbClr val="1F507A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1" name="Text 29"/>
          <p:cNvSpPr/>
          <p:nvPr/>
        </p:nvSpPr>
        <p:spPr>
          <a:xfrm>
            <a:off x="896112" y="5806440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Security and evidence are first-class features, not add-ons.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4" name="Shape 2"/>
          <p:cNvSpPr/>
          <p:nvPr/>
        </p:nvSpPr>
        <p:spPr>
          <a:xfrm>
            <a:off x="502920" y="6656832"/>
            <a:ext cx="1097280" cy="640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&amp; User Journey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D"/>
                </a:solidFill>
              </a:rPr>
              <a:t>A single submission moves through validation, scoring, response, and audit.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241280" y="34747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8F6F2"/>
          </a:solidFill>
          <a:ln w="12700">
            <a:solidFill>
              <a:srgbClr val="E8F6F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8" name="Text 6"/>
          <p:cNvSpPr/>
          <p:nvPr/>
        </p:nvSpPr>
        <p:spPr>
          <a:xfrm>
            <a:off x="10241280" y="4206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3B5C"/>
                </a:solidFill>
              </a:rPr>
              <a:t>Flow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078992"/>
            <a:ext cx="11155680" cy="512064"/>
          </a:xfrm>
          <a:prstGeom prst="roundRect">
            <a:avLst>
              <a:gd name="adj" fmla="val 7143"/>
            </a:avLst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0" name="Text 8"/>
          <p:cNvSpPr/>
          <p:nvPr/>
        </p:nvSpPr>
        <p:spPr>
          <a:xfrm>
            <a:off x="685800" y="115214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How the app 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1371600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4"/>
                </a:solidFill>
              </a:rPr>
              <a:t>The same pattern is used for message verification and transaction monitoring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828800"/>
            <a:ext cx="1828800" cy="1444752"/>
          </a:xfrm>
          <a:prstGeom prst="roundRect">
            <a:avLst>
              <a:gd name="adj" fmla="val 5063"/>
            </a:avLst>
          </a:prstGeom>
          <a:solidFill>
            <a:srgbClr val="EAF4FF"/>
          </a:solidFill>
          <a:ln w="12700">
            <a:solidFill>
              <a:srgbClr val="D8E3EE"/>
            </a:solidFill>
            <a:prstDash val="solid"/>
          </a:ln>
          <a:effectLst>
            <a:outerShdw blurRad="16510" dist="12700" dir="2700000" algn="bl" rotWithShape="0">
              <a:srgbClr val="B6C6D6">
                <a:alpha val="16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3" name="Shape 11"/>
          <p:cNvSpPr/>
          <p:nvPr/>
        </p:nvSpPr>
        <p:spPr>
          <a:xfrm>
            <a:off x="1271016" y="1956816"/>
            <a:ext cx="603504" cy="603504"/>
          </a:xfrm>
          <a:prstGeom prst="ellipse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14" name="Text 12"/>
          <p:cNvSpPr/>
          <p:nvPr/>
        </p:nvSpPr>
        <p:spPr>
          <a:xfrm>
            <a:off x="1271016" y="208483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8096" y="263347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B5C"/>
                </a:solidFill>
              </a:rPr>
              <a:t>Input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8529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F2D3D"/>
                </a:solidFill>
              </a:rPr>
              <a:t>Message, transaction, or admin request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2487168" y="2551176"/>
            <a:ext cx="164592" cy="0"/>
          </a:xfrm>
          <a:prstGeom prst="line">
            <a:avLst/>
          </a:prstGeom>
          <a:noFill/>
          <a:ln w="12700">
            <a:solidFill>
              <a:srgbClr val="6E93B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i-IN"/>
          </a:p>
        </p:txBody>
      </p:sp>
      <p:sp>
        <p:nvSpPr>
          <p:cNvPr id="18" name="Shape 16"/>
          <p:cNvSpPr/>
          <p:nvPr/>
        </p:nvSpPr>
        <p:spPr>
          <a:xfrm>
            <a:off x="2907792" y="1828800"/>
            <a:ext cx="1828800" cy="1444752"/>
          </a:xfrm>
          <a:prstGeom prst="roundRect">
            <a:avLst>
              <a:gd name="adj" fmla="val 5063"/>
            </a:avLst>
          </a:prstGeom>
          <a:solidFill>
            <a:srgbClr val="E8F6F2"/>
          </a:solidFill>
          <a:ln w="12700">
            <a:solidFill>
              <a:srgbClr val="D8E3EE"/>
            </a:solidFill>
            <a:prstDash val="solid"/>
          </a:ln>
          <a:effectLst>
            <a:outerShdw blurRad="16510" dist="12700" dir="2700000" algn="bl" rotWithShape="0">
              <a:srgbClr val="B6C6D6">
                <a:alpha val="16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9" name="Shape 17"/>
          <p:cNvSpPr/>
          <p:nvPr/>
        </p:nvSpPr>
        <p:spPr>
          <a:xfrm>
            <a:off x="3520440" y="1956816"/>
            <a:ext cx="603504" cy="603504"/>
          </a:xfrm>
          <a:prstGeom prst="ellipse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20" name="Text 18"/>
          <p:cNvSpPr/>
          <p:nvPr/>
        </p:nvSpPr>
        <p:spPr>
          <a:xfrm>
            <a:off x="3520440" y="208483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017520" y="263347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B5C"/>
                </a:solidFill>
              </a:rPr>
              <a:t>Persist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80944" y="28529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F2D3D"/>
                </a:solidFill>
              </a:rPr>
              <a:t>Flask route saves the record with SQLAlchemy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736592" y="2551176"/>
            <a:ext cx="164592" cy="0"/>
          </a:xfrm>
          <a:prstGeom prst="line">
            <a:avLst/>
          </a:prstGeom>
          <a:noFill/>
          <a:ln w="12700">
            <a:solidFill>
              <a:srgbClr val="6E93B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i-IN"/>
          </a:p>
        </p:txBody>
      </p:sp>
      <p:sp>
        <p:nvSpPr>
          <p:cNvPr id="24" name="Shape 22"/>
          <p:cNvSpPr/>
          <p:nvPr/>
        </p:nvSpPr>
        <p:spPr>
          <a:xfrm>
            <a:off x="5157216" y="1828800"/>
            <a:ext cx="1828800" cy="1444752"/>
          </a:xfrm>
          <a:prstGeom prst="roundRect">
            <a:avLst>
              <a:gd name="adj" fmla="val 5063"/>
            </a:avLst>
          </a:prstGeom>
          <a:solidFill>
            <a:srgbClr val="FFF1E6"/>
          </a:solidFill>
          <a:ln w="12700">
            <a:solidFill>
              <a:srgbClr val="D8E3EE"/>
            </a:solidFill>
            <a:prstDash val="solid"/>
          </a:ln>
          <a:effectLst>
            <a:outerShdw blurRad="16510" dist="12700" dir="2700000" algn="bl" rotWithShape="0">
              <a:srgbClr val="B6C6D6">
                <a:alpha val="16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25" name="Shape 23"/>
          <p:cNvSpPr/>
          <p:nvPr/>
        </p:nvSpPr>
        <p:spPr>
          <a:xfrm>
            <a:off x="5769864" y="1956816"/>
            <a:ext cx="603504" cy="603504"/>
          </a:xfrm>
          <a:prstGeom prst="ellipse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26" name="Text 24"/>
          <p:cNvSpPr/>
          <p:nvPr/>
        </p:nvSpPr>
        <p:spPr>
          <a:xfrm>
            <a:off x="5769864" y="208483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66944" y="263347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B5C"/>
                </a:solidFill>
              </a:rPr>
              <a:t>Score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30368" y="28529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F2D3D"/>
                </a:solidFill>
              </a:rPr>
              <a:t>Rules engine + ML model + customer context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6986016" y="2551176"/>
            <a:ext cx="164592" cy="0"/>
          </a:xfrm>
          <a:prstGeom prst="line">
            <a:avLst/>
          </a:prstGeom>
          <a:noFill/>
          <a:ln w="12700">
            <a:solidFill>
              <a:srgbClr val="6E93B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i-IN"/>
          </a:p>
        </p:txBody>
      </p:sp>
      <p:sp>
        <p:nvSpPr>
          <p:cNvPr id="30" name="Shape 28"/>
          <p:cNvSpPr/>
          <p:nvPr/>
        </p:nvSpPr>
        <p:spPr>
          <a:xfrm>
            <a:off x="7406640" y="1828800"/>
            <a:ext cx="1828800" cy="1444752"/>
          </a:xfrm>
          <a:prstGeom prst="roundRect">
            <a:avLst>
              <a:gd name="adj" fmla="val 5063"/>
            </a:avLst>
          </a:prstGeom>
          <a:solidFill>
            <a:srgbClr val="F3ECFF"/>
          </a:solidFill>
          <a:ln w="12700">
            <a:solidFill>
              <a:srgbClr val="D8E3EE"/>
            </a:solidFill>
            <a:prstDash val="solid"/>
          </a:ln>
          <a:effectLst>
            <a:outerShdw blurRad="16510" dist="12700" dir="2700000" algn="bl" rotWithShape="0">
              <a:srgbClr val="B6C6D6">
                <a:alpha val="16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31" name="Shape 29"/>
          <p:cNvSpPr/>
          <p:nvPr/>
        </p:nvSpPr>
        <p:spPr>
          <a:xfrm>
            <a:off x="8019288" y="1956816"/>
            <a:ext cx="603504" cy="603504"/>
          </a:xfrm>
          <a:prstGeom prst="ellipse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2" name="Text 30"/>
          <p:cNvSpPr/>
          <p:nvPr/>
        </p:nvSpPr>
        <p:spPr>
          <a:xfrm>
            <a:off x="8019288" y="208483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16368" y="263347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B5C"/>
                </a:solidFill>
              </a:rPr>
              <a:t>Decide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79792" y="28529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F2D3D"/>
                </a:solidFill>
              </a:rPr>
              <a:t>Safe, suspicious, high-risk, or critical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9235440" y="2551176"/>
            <a:ext cx="164592" cy="0"/>
          </a:xfrm>
          <a:prstGeom prst="line">
            <a:avLst/>
          </a:prstGeom>
          <a:noFill/>
          <a:ln w="12700">
            <a:solidFill>
              <a:srgbClr val="6E93B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i-IN"/>
          </a:p>
        </p:txBody>
      </p:sp>
      <p:sp>
        <p:nvSpPr>
          <p:cNvPr id="36" name="Shape 34"/>
          <p:cNvSpPr/>
          <p:nvPr/>
        </p:nvSpPr>
        <p:spPr>
          <a:xfrm>
            <a:off x="9656064" y="1828800"/>
            <a:ext cx="1700784" cy="1444752"/>
          </a:xfrm>
          <a:prstGeom prst="roundRect">
            <a:avLst>
              <a:gd name="adj" fmla="val 5063"/>
            </a:avLst>
          </a:prstGeom>
          <a:solidFill>
            <a:srgbClr val="FFF9EF"/>
          </a:solidFill>
          <a:ln w="12700">
            <a:solidFill>
              <a:srgbClr val="D8E3EE"/>
            </a:solidFill>
            <a:prstDash val="solid"/>
          </a:ln>
          <a:effectLst>
            <a:outerShdw blurRad="16510" dist="12700" dir="2700000" algn="bl" rotWithShape="0">
              <a:srgbClr val="B6C6D6">
                <a:alpha val="16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37" name="Shape 35"/>
          <p:cNvSpPr/>
          <p:nvPr/>
        </p:nvSpPr>
        <p:spPr>
          <a:xfrm>
            <a:off x="10268712" y="1956816"/>
            <a:ext cx="603504" cy="603504"/>
          </a:xfrm>
          <a:prstGeom prst="ellipse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8" name="Text 36"/>
          <p:cNvSpPr/>
          <p:nvPr/>
        </p:nvSpPr>
        <p:spPr>
          <a:xfrm>
            <a:off x="10268712" y="208483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765792" y="263347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B5C"/>
                </a:solidFill>
              </a:rPr>
              <a:t>Act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729216" y="2852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F2D3D"/>
                </a:solidFill>
              </a:rPr>
              <a:t>Create alert, log action, and update status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685800" y="374904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42" name="Text 40"/>
          <p:cNvSpPr/>
          <p:nvPr/>
        </p:nvSpPr>
        <p:spPr>
          <a:xfrm>
            <a:off x="813816" y="385876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53B5C"/>
                </a:solidFill>
              </a:rPr>
              <a:t>Detection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13816" y="4151376"/>
            <a:ext cx="3401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solidFill>
                  <a:srgbClr val="243B53"/>
                </a:solidFill>
              </a:rPr>
              <a:t>Message rules look for OTP requests, </a:t>
            </a:r>
            <a:r>
              <a:rPr lang="en-US" sz="1100" dirty="0" err="1">
                <a:solidFill>
                  <a:srgbClr val="243B53"/>
                </a:solidFill>
              </a:rPr>
              <a:t>urgency,impersonation</a:t>
            </a:r>
            <a:r>
              <a:rPr lang="en-US" sz="1100" dirty="0">
                <a:solidFill>
                  <a:srgbClr val="243B53"/>
                </a:solidFill>
              </a:rPr>
              <a:t>, links, and callback </a:t>
            </a:r>
            <a:r>
              <a:rPr lang="en-US" sz="1100" dirty="0" err="1">
                <a:solidFill>
                  <a:srgbClr val="243B53"/>
                </a:solidFill>
              </a:rPr>
              <a:t>traps.Transaction</a:t>
            </a:r>
            <a:r>
              <a:rPr lang="en-US" sz="1100" dirty="0">
                <a:solidFill>
                  <a:srgbClr val="243B53"/>
                </a:solidFill>
              </a:rPr>
              <a:t> rules look for amount, </a:t>
            </a:r>
            <a:r>
              <a:rPr lang="en-US" sz="1100" dirty="0" err="1">
                <a:solidFill>
                  <a:srgbClr val="243B53"/>
                </a:solidFill>
              </a:rPr>
              <a:t>geomismatch</a:t>
            </a:r>
            <a:r>
              <a:rPr lang="en-US" sz="1100" dirty="0">
                <a:solidFill>
                  <a:srgbClr val="243B53"/>
                </a:solidFill>
              </a:rPr>
              <a:t>, risky beneficiaries, and timing.</a:t>
            </a:r>
            <a:endParaRPr lang="en-US" sz="1100" dirty="0"/>
          </a:p>
          <a:p>
            <a:pPr marL="0" indent="0">
              <a:buNone/>
            </a:pPr>
            <a:endParaRPr lang="en-US" sz="1050" dirty="0">
              <a:solidFill>
                <a:srgbClr val="1F2D3D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553712" y="374904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45" name="Text 43"/>
          <p:cNvSpPr/>
          <p:nvPr/>
        </p:nvSpPr>
        <p:spPr>
          <a:xfrm>
            <a:off x="4681728" y="385876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53B5C"/>
                </a:solidFill>
              </a:rPr>
              <a:t>Decision</a:t>
            </a:r>
            <a:endParaRPr lang="en-US" sz="1500" b="1" dirty="0">
              <a:solidFill>
                <a:srgbClr val="153B5C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4681728" y="4151376"/>
            <a:ext cx="3401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solidFill>
                  <a:srgbClr val="243B53"/>
                </a:solidFill>
              </a:rPr>
              <a:t>High scores create an alert with severity. </a:t>
            </a:r>
            <a:r>
              <a:rPr lang="en-US" sz="1100" dirty="0" err="1">
                <a:solidFill>
                  <a:srgbClr val="243B53"/>
                </a:solidFill>
              </a:rPr>
              <a:t>Userscan</a:t>
            </a:r>
            <a:r>
              <a:rPr lang="en-US" sz="1100" dirty="0">
                <a:solidFill>
                  <a:srgbClr val="243B53"/>
                </a:solidFill>
              </a:rPr>
              <a:t> call the customer, freeze the </a:t>
            </a:r>
            <a:r>
              <a:rPr lang="en-US" sz="1100" dirty="0" err="1">
                <a:solidFill>
                  <a:srgbClr val="243B53"/>
                </a:solidFill>
              </a:rPr>
              <a:t>account,request</a:t>
            </a:r>
            <a:r>
              <a:rPr lang="en-US" sz="1100" dirty="0">
                <a:solidFill>
                  <a:srgbClr val="243B53"/>
                </a:solidFill>
              </a:rPr>
              <a:t> KYC, escalate, or mark the case safe.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8412480" y="3749040"/>
            <a:ext cx="2670048" cy="1645920"/>
          </a:xfrm>
          <a:prstGeom prst="roundRect">
            <a:avLst>
              <a:gd name="adj" fmla="val 4444"/>
            </a:avLst>
          </a:prstGeom>
          <a:solidFill>
            <a:srgbClr val="FFF9E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48" name="Text 46"/>
          <p:cNvSpPr/>
          <p:nvPr/>
        </p:nvSpPr>
        <p:spPr>
          <a:xfrm>
            <a:off x="8540496" y="385876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53B5C"/>
                </a:solidFill>
              </a:rPr>
              <a:t>Evidence</a:t>
            </a:r>
          </a:p>
        </p:txBody>
      </p:sp>
      <p:sp>
        <p:nvSpPr>
          <p:cNvPr id="49" name="Text 47"/>
          <p:cNvSpPr/>
          <p:nvPr/>
        </p:nvSpPr>
        <p:spPr>
          <a:xfrm>
            <a:off x="8540496" y="4151376"/>
            <a:ext cx="2414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solidFill>
                  <a:srgbClr val="243B53"/>
                </a:solidFill>
              </a:rPr>
              <a:t>The system writes audit logs and action </a:t>
            </a:r>
            <a:r>
              <a:rPr lang="en-US" sz="1100" dirty="0" err="1">
                <a:solidFill>
                  <a:srgbClr val="243B53"/>
                </a:solidFill>
              </a:rPr>
              <a:t>logs,then</a:t>
            </a:r>
            <a:r>
              <a:rPr lang="en-US" sz="1100" dirty="0">
                <a:solidFill>
                  <a:srgbClr val="243B53"/>
                </a:solidFill>
              </a:rPr>
              <a:t> exports CSV, Excel, and PDF reports </a:t>
            </a:r>
            <a:r>
              <a:rPr lang="en-US" sz="1100" dirty="0" err="1">
                <a:solidFill>
                  <a:srgbClr val="243B53"/>
                </a:solidFill>
              </a:rPr>
              <a:t>forreview</a:t>
            </a:r>
            <a:r>
              <a:rPr lang="en-US" sz="1100" dirty="0">
                <a:solidFill>
                  <a:srgbClr val="243B53"/>
                </a:solidFill>
              </a:rPr>
              <a:t> and governance.</a:t>
            </a:r>
          </a:p>
        </p:txBody>
      </p:sp>
      <p:sp>
        <p:nvSpPr>
          <p:cNvPr id="50" name="Shape 48"/>
          <p:cNvSpPr/>
          <p:nvPr/>
        </p:nvSpPr>
        <p:spPr>
          <a:xfrm>
            <a:off x="685800" y="5650992"/>
            <a:ext cx="10424160" cy="475488"/>
          </a:xfrm>
          <a:prstGeom prst="roundRect">
            <a:avLst>
              <a:gd name="adj" fmla="val 7692"/>
            </a:avLst>
          </a:prstGeom>
          <a:solidFill>
            <a:srgbClr val="1F507A"/>
          </a:solidFill>
          <a:ln w="12700">
            <a:solidFill>
              <a:srgbClr val="1F507A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51" name="Text 49"/>
          <p:cNvSpPr/>
          <p:nvPr/>
        </p:nvSpPr>
        <p:spPr>
          <a:xfrm>
            <a:off x="914400" y="5769864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Each stage has a single responsibility: ingest, score, act, and record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 layer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9552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27D98"/>
                </a:solidFill>
              </a:rPr>
              <a:t>The platform combines rule-based logic with machine learning and customer history.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</a:rPr>
              <a:t>Fraud Monitoring &amp; Risk Scoring Platform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2700">
            <a:solidFill>
              <a:srgbClr val="D9E3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8" name="Shape 6"/>
          <p:cNvSpPr/>
          <p:nvPr/>
        </p:nvSpPr>
        <p:spPr>
          <a:xfrm>
            <a:off x="4270248" y="118872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EAFBF7"/>
          </a:solidFill>
          <a:ln w="12700">
            <a:solidFill>
              <a:srgbClr val="D9E3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9" name="Shape 7"/>
          <p:cNvSpPr/>
          <p:nvPr/>
        </p:nvSpPr>
        <p:spPr>
          <a:xfrm>
            <a:off x="8083296" y="1188720"/>
            <a:ext cx="3648456" cy="4846320"/>
          </a:xfrm>
          <a:prstGeom prst="roundRect">
            <a:avLst>
              <a:gd name="adj" fmla="val 2005"/>
            </a:avLst>
          </a:prstGeom>
          <a:solidFill>
            <a:srgbClr val="ECFDF5"/>
          </a:solidFill>
          <a:ln w="12700">
            <a:solidFill>
              <a:srgbClr val="D9E3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Message scoring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OTP / PIN / CVV requests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urgency language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impersonation of bank or RBI terms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short links and malformed URLs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callback and attachment bait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98848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Transaction scoring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44568" y="17830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high-value transfers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geo mismatch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risky beneficiary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scam-message timing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repeated small transfers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international or cash-withdrawal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11896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Customer risk score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9328" y="17830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complaints and device changes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location mismatch count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vulnerability indicator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KYC status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</a:rPr>
              <a:t>• alerts and suspicious history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7" name="Text 15"/>
          <p:cNvSpPr/>
          <p:nvPr/>
        </p:nvSpPr>
        <p:spPr>
          <a:xfrm>
            <a:off x="960120" y="4480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How risk score is formed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782312"/>
            <a:ext cx="9875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3B53"/>
                </a:solidFill>
              </a:rPr>
              <a:t>final score = rules weight + model probability + anomaly score + customer risk + link / urgency boosts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69989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4" name="Shape 2"/>
          <p:cNvSpPr/>
          <p:nvPr/>
        </p:nvSpPr>
        <p:spPr>
          <a:xfrm>
            <a:off x="502920" y="6656832"/>
            <a:ext cx="1097280" cy="640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D"/>
                </a:solidFill>
              </a:rPr>
              <a:t>How the browser, Flask backend, services, ORM, and outputs connect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241280" y="34747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8" name="Text 6"/>
          <p:cNvSpPr/>
          <p:nvPr/>
        </p:nvSpPr>
        <p:spPr>
          <a:xfrm>
            <a:off x="10241280" y="4206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3B5C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325880"/>
            <a:ext cx="2057400" cy="1426464"/>
          </a:xfrm>
          <a:prstGeom prst="roundRect">
            <a:avLst>
              <a:gd name="adj" fmla="val 5128"/>
            </a:avLst>
          </a:prstGeom>
          <a:solidFill>
            <a:srgbClr val="EAF4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0" name="Text 8"/>
          <p:cNvSpPr/>
          <p:nvPr/>
        </p:nvSpPr>
        <p:spPr>
          <a:xfrm>
            <a:off x="786384" y="14356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Browser / UI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" y="1728216"/>
            <a:ext cx="1801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Jinja-rendered HTML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CSS cards, tables, forms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Dashboard, verification, alerts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715768" y="2039112"/>
            <a:ext cx="182880" cy="0"/>
          </a:xfrm>
          <a:prstGeom prst="line">
            <a:avLst/>
          </a:prstGeom>
          <a:noFill/>
          <a:ln w="12700">
            <a:solidFill>
              <a:srgbClr val="6E93B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i-IN"/>
          </a:p>
        </p:txBody>
      </p:sp>
      <p:sp>
        <p:nvSpPr>
          <p:cNvPr id="13" name="Shape 11"/>
          <p:cNvSpPr/>
          <p:nvPr/>
        </p:nvSpPr>
        <p:spPr>
          <a:xfrm>
            <a:off x="2907792" y="1325880"/>
            <a:ext cx="2057400" cy="1426464"/>
          </a:xfrm>
          <a:prstGeom prst="roundRect">
            <a:avLst>
              <a:gd name="adj" fmla="val 5128"/>
            </a:avLst>
          </a:prstGeom>
          <a:solidFill>
            <a:srgbClr val="E8F6F2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4" name="Text 12"/>
          <p:cNvSpPr/>
          <p:nvPr/>
        </p:nvSpPr>
        <p:spPr>
          <a:xfrm>
            <a:off x="3035808" y="14356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Flask blueprints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35808" y="1728216"/>
            <a:ext cx="1801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auth.py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main.py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api.py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admin.py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reports.py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965192" y="2039112"/>
            <a:ext cx="182880" cy="0"/>
          </a:xfrm>
          <a:prstGeom prst="line">
            <a:avLst/>
          </a:prstGeom>
          <a:noFill/>
          <a:ln w="12700">
            <a:solidFill>
              <a:srgbClr val="6E93B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i-IN"/>
          </a:p>
        </p:txBody>
      </p:sp>
      <p:sp>
        <p:nvSpPr>
          <p:cNvPr id="17" name="Shape 15"/>
          <p:cNvSpPr/>
          <p:nvPr/>
        </p:nvSpPr>
        <p:spPr>
          <a:xfrm>
            <a:off x="5157216" y="1325880"/>
            <a:ext cx="2057400" cy="1426464"/>
          </a:xfrm>
          <a:prstGeom prst="roundRect">
            <a:avLst>
              <a:gd name="adj" fmla="val 5128"/>
            </a:avLst>
          </a:prstGeom>
          <a:solidFill>
            <a:srgbClr val="FFF1E6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8" name="Text 16"/>
          <p:cNvSpPr/>
          <p:nvPr/>
        </p:nvSpPr>
        <p:spPr>
          <a:xfrm>
            <a:off x="5285232" y="14356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Service 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85232" y="1728216"/>
            <a:ext cx="1801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risk_service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audit_service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report_service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rules_engine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ml_service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214616" y="2039112"/>
            <a:ext cx="182880" cy="0"/>
          </a:xfrm>
          <a:prstGeom prst="line">
            <a:avLst/>
          </a:prstGeom>
          <a:noFill/>
          <a:ln w="12700">
            <a:solidFill>
              <a:srgbClr val="6E93B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i-IN"/>
          </a:p>
        </p:txBody>
      </p:sp>
      <p:sp>
        <p:nvSpPr>
          <p:cNvPr id="21" name="Shape 19"/>
          <p:cNvSpPr/>
          <p:nvPr/>
        </p:nvSpPr>
        <p:spPr>
          <a:xfrm>
            <a:off x="7406640" y="1325880"/>
            <a:ext cx="2057400" cy="1426464"/>
          </a:xfrm>
          <a:prstGeom prst="roundRect">
            <a:avLst>
              <a:gd name="adj" fmla="val 5128"/>
            </a:avLst>
          </a:prstGeom>
          <a:solidFill>
            <a:srgbClr val="EEF9EE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22" name="Text 20"/>
          <p:cNvSpPr/>
          <p:nvPr/>
        </p:nvSpPr>
        <p:spPr>
          <a:xfrm>
            <a:off x="7534656" y="14356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ORM / DB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34656" y="1728216"/>
            <a:ext cx="1801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SQLAlchemy models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User, Customer,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Message, Transaction,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Alert, Logs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464040" y="2039112"/>
            <a:ext cx="182880" cy="0"/>
          </a:xfrm>
          <a:prstGeom prst="line">
            <a:avLst/>
          </a:prstGeom>
          <a:noFill/>
          <a:ln w="12700">
            <a:solidFill>
              <a:srgbClr val="6E93B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i-IN"/>
          </a:p>
        </p:txBody>
      </p:sp>
      <p:sp>
        <p:nvSpPr>
          <p:cNvPr id="25" name="Shape 23"/>
          <p:cNvSpPr/>
          <p:nvPr/>
        </p:nvSpPr>
        <p:spPr>
          <a:xfrm>
            <a:off x="9656064" y="1325880"/>
            <a:ext cx="2057400" cy="1426464"/>
          </a:xfrm>
          <a:prstGeom prst="roundRect">
            <a:avLst>
              <a:gd name="adj" fmla="val 5128"/>
            </a:avLst>
          </a:prstGeom>
          <a:solidFill>
            <a:srgbClr val="F3EC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26" name="Text 24"/>
          <p:cNvSpPr/>
          <p:nvPr/>
        </p:nvSpPr>
        <p:spPr>
          <a:xfrm>
            <a:off x="9784080" y="14356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Outputs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84080" y="1728216"/>
            <a:ext cx="1801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Alerts, actions, audit logs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CSV/XLSX/PDF reports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</a:rPr>
              <a:t>JSON APIs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58368" y="3063240"/>
            <a:ext cx="372160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29" name="Text 27"/>
          <p:cNvSpPr/>
          <p:nvPr/>
        </p:nvSpPr>
        <p:spPr>
          <a:xfrm>
            <a:off x="786384" y="3172968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Request flow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86384" y="3465576"/>
            <a:ext cx="34655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1. User submits message or transaction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2. Flask route stores input through SQLAlchemy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3. Scoring service combines rules, ML, and customer profile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4. Prediction row is saved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5. High risk creates an alert and log entry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26280" y="3063240"/>
            <a:ext cx="380390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32" name="Text 30"/>
          <p:cNvSpPr/>
          <p:nvPr/>
        </p:nvSpPr>
        <p:spPr>
          <a:xfrm>
            <a:off x="4654296" y="317296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Operational flow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654296" y="3465576"/>
            <a:ext cx="3547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1. Open alert is assigned to a role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2. Analyst can call, escalate, freeze, or mark safe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3. Actions are written to ActionLog and AuditLog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4. Compliance can export evidence for review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67928" y="306324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FF9E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35" name="Text 33"/>
          <p:cNvSpPr/>
          <p:nvPr/>
        </p:nvSpPr>
        <p:spPr>
          <a:xfrm>
            <a:off x="8695944" y="31729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Key design point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695944" y="3465576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The app is a hybrid decision system, not an ML-only model. It combines business rules, machine learning, anomaly detection, and customer context.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658368" y="5138928"/>
            <a:ext cx="10588752" cy="987552"/>
          </a:xfrm>
          <a:prstGeom prst="roundRect">
            <a:avLst>
              <a:gd name="adj" fmla="val 2778"/>
            </a:avLst>
          </a:prstGeom>
          <a:solidFill>
            <a:srgbClr val="1F507A"/>
          </a:solidFill>
          <a:ln w="12700">
            <a:solidFill>
              <a:srgbClr val="1F507A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8" name="Text 36"/>
          <p:cNvSpPr/>
          <p:nvPr/>
        </p:nvSpPr>
        <p:spPr>
          <a:xfrm>
            <a:off x="859536" y="53218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Technical takeaway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59536" y="55961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F6FC"/>
                </a:solidFill>
              </a:rPr>
              <a:t>The code separates UI, routing, scoring, persistence, and reporting into distinct layers, which makes the system easier to maintain, test, and extend.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4" name="Shape 2"/>
          <p:cNvSpPr/>
          <p:nvPr/>
        </p:nvSpPr>
        <p:spPr>
          <a:xfrm>
            <a:off x="502920" y="6656832"/>
            <a:ext cx="1097280" cy="640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Models and Rules Engine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D"/>
                </a:solidFill>
              </a:rPr>
              <a:t>The score is computed by blending rule-based indicators, model probabilities, anomaly scores, and customer risk.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241280" y="34747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8" name="Text 6"/>
          <p:cNvSpPr/>
          <p:nvPr/>
        </p:nvSpPr>
        <p:spPr>
          <a:xfrm>
            <a:off x="10241280" y="4206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3B5C"/>
                </a:solidFill>
              </a:rPr>
              <a:t>ML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078992"/>
            <a:ext cx="11155680" cy="512064"/>
          </a:xfrm>
          <a:prstGeom prst="roundRect">
            <a:avLst>
              <a:gd name="adj" fmla="val 7143"/>
            </a:avLst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0" name="Text 8"/>
          <p:cNvSpPr/>
          <p:nvPr/>
        </p:nvSpPr>
        <p:spPr>
          <a:xfrm>
            <a:off x="685800" y="115214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How the intelligence layer 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1371600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4"/>
                </a:solidFill>
              </a:rPr>
              <a:t>Rules are deterministic, ML is probabilistic, and the final score is fused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828800"/>
            <a:ext cx="2880360" cy="2057400"/>
          </a:xfrm>
          <a:prstGeom prst="roundRect">
            <a:avLst>
              <a:gd name="adj" fmla="val 3556"/>
            </a:avLst>
          </a:prstGeom>
          <a:solidFill>
            <a:srgbClr val="EAF4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3" name="Text 11"/>
          <p:cNvSpPr/>
          <p:nvPr/>
        </p:nvSpPr>
        <p:spPr>
          <a:xfrm>
            <a:off x="786384" y="1938528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Message ML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2231136"/>
            <a:ext cx="26243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Loaded from message_model.joblib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Uses message_vectorizer.joblib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`predict_message_probability(text)`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Best for scam-like language probability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749040" y="1828800"/>
            <a:ext cx="2880360" cy="2057400"/>
          </a:xfrm>
          <a:prstGeom prst="roundRect">
            <a:avLst>
              <a:gd name="adj" fmla="val 3556"/>
            </a:avLst>
          </a:prstGeom>
          <a:solidFill>
            <a:srgbClr val="E8F6F2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6" name="Text 14"/>
          <p:cNvSpPr/>
          <p:nvPr/>
        </p:nvSpPr>
        <p:spPr>
          <a:xfrm>
            <a:off x="3877056" y="1938528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Transaction ML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77056" y="2231136"/>
            <a:ext cx="26243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Loaded from </a:t>
            </a:r>
            <a:r>
              <a:rPr lang="en-US" sz="1050" dirty="0" err="1">
                <a:solidFill>
                  <a:srgbClr val="1F2D3D"/>
                </a:solidFill>
              </a:rPr>
              <a:t>transaction_model.joblib</a:t>
            </a:r>
            <a:endParaRPr lang="en-US" sz="1050" dirty="0" err="1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</a:rPr>
              <a:t>• `</a:t>
            </a:r>
            <a:r>
              <a:rPr lang="en-US" sz="1050" dirty="0" err="1">
                <a:solidFill>
                  <a:srgbClr val="1F2D3D"/>
                </a:solidFill>
              </a:rPr>
              <a:t>predict_transaction_probability</a:t>
            </a:r>
            <a:r>
              <a:rPr lang="en-US" sz="1050" dirty="0">
                <a:solidFill>
                  <a:srgbClr val="1F2D3D"/>
                </a:solidFill>
              </a:rPr>
              <a:t>(features)`</a:t>
            </a:r>
            <a:endParaRPr lang="en-US" sz="105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Works on numeric transaction features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Produces fraud probability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839712" y="1828800"/>
            <a:ext cx="2880360" cy="2057400"/>
          </a:xfrm>
          <a:prstGeom prst="roundRect">
            <a:avLst>
              <a:gd name="adj" fmla="val 3556"/>
            </a:avLst>
          </a:prstGeom>
          <a:solidFill>
            <a:srgbClr val="F3EC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19" name="Text 17"/>
          <p:cNvSpPr/>
          <p:nvPr/>
        </p:nvSpPr>
        <p:spPr>
          <a:xfrm>
            <a:off x="6967728" y="1938528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Anomaly detection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67728" y="2231136"/>
            <a:ext cx="26243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Loaded from transaction_isolation.joblib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`anomaly_score(features)`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• Detects unusual transactions even without labels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9930384" y="1828800"/>
            <a:ext cx="1600200" cy="2057400"/>
          </a:xfrm>
          <a:prstGeom prst="roundRect">
            <a:avLst>
              <a:gd name="adj" fmla="val 4571"/>
            </a:avLst>
          </a:prstGeom>
          <a:solidFill>
            <a:srgbClr val="FFF9E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22" name="Text 20"/>
          <p:cNvSpPr/>
          <p:nvPr/>
        </p:nvSpPr>
        <p:spPr>
          <a:xfrm>
            <a:off x="10058400" y="1938528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Rules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0" y="2231136"/>
            <a:ext cx="1344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</a:rPr>
              <a:t>Regex and pattern scoring for OTP, urgency, impersonation, links, and callback pressure.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4160520"/>
            <a:ext cx="544068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25" name="Text 23"/>
          <p:cNvSpPr/>
          <p:nvPr/>
        </p:nvSpPr>
        <p:spPr>
          <a:xfrm>
            <a:off x="786384" y="4270248"/>
            <a:ext cx="5184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Message scoring signals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6384" y="4562856"/>
            <a:ext cx="5184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OTP/PIN/CVV request • urgency language • bank impersonation • refund lure • suspicious links • sender reputation • customer risk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6309360" y="4160520"/>
            <a:ext cx="5230368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12700" dir="2700000" algn="bl" rotWithShape="0">
              <a:srgbClr val="B6C6D6">
                <a:alpha val="18000"/>
              </a:srgbClr>
            </a:outerShdw>
          </a:effectLst>
        </p:spPr>
        <p:txBody>
          <a:bodyPr/>
          <a:lstStyle/>
          <a:p>
            <a:endParaRPr lang="hi-IN"/>
          </a:p>
        </p:txBody>
      </p:sp>
      <p:sp>
        <p:nvSpPr>
          <p:cNvPr id="28" name="Text 26"/>
          <p:cNvSpPr/>
          <p:nvPr/>
        </p:nvSpPr>
        <p:spPr>
          <a:xfrm>
            <a:off x="6437376" y="427024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B5C"/>
                </a:solidFill>
              </a:rPr>
              <a:t>Transaction scoring signals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37376" y="4562856"/>
            <a:ext cx="49743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</a:rPr>
              <a:t>High amount • geo mismatch • risky beneficiary • scam-message timing • repeated small transfers • international flag • cash withdrawal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658368" y="5623560"/>
            <a:ext cx="10972800" cy="621792"/>
          </a:xfrm>
          <a:prstGeom prst="roundRect">
            <a:avLst>
              <a:gd name="adj" fmla="val 4412"/>
            </a:avLst>
          </a:prstGeom>
          <a:solidFill>
            <a:srgbClr val="1F507A"/>
          </a:solidFill>
          <a:ln w="12700">
            <a:solidFill>
              <a:srgbClr val="1F507A"/>
            </a:solidFill>
            <a:prstDash val="solid"/>
          </a:ln>
        </p:spPr>
        <p:txBody>
          <a:bodyPr/>
          <a:lstStyle/>
          <a:p>
            <a:endParaRPr lang="hi-IN"/>
          </a:p>
        </p:txBody>
      </p:sp>
      <p:sp>
        <p:nvSpPr>
          <p:cNvPr id="31" name="Text 29"/>
          <p:cNvSpPr/>
          <p:nvPr/>
        </p:nvSpPr>
        <p:spPr>
          <a:xfrm>
            <a:off x="896112" y="5806440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Final score = weighted fusion of rule score + ML probability + anomaly score + customer history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1183</Words>
  <Application>Microsoft Office PowerPoint</Application>
  <PresentationFormat>Widescreen</PresentationFormat>
  <Paragraphs>206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Monitoring &amp; Risk Scoring Platform</dc:title>
  <dc:subject>Fraud Monitoring System</dc:subject>
  <dc:creator>OpenAI</dc:creator>
  <cp:lastModifiedBy>Pankaj Mehta</cp:lastModifiedBy>
  <cp:revision>50</cp:revision>
  <dcterms:created xsi:type="dcterms:W3CDTF">2026-04-07T16:18:43Z</dcterms:created>
  <dcterms:modified xsi:type="dcterms:W3CDTF">2026-04-09T14:44:56Z</dcterms:modified>
</cp:coreProperties>
</file>