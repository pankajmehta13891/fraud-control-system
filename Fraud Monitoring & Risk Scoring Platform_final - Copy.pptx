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6" r:id="rId2"/>
    <p:sldId id="267" r:id="rId3"/>
    <p:sldId id="271" r:id="rId4"/>
    <p:sldId id="270" r:id="rId5"/>
    <p:sldId id="264" r:id="rId6"/>
    <p:sldId id="259" r:id="rId7"/>
    <p:sldId id="269" r:id="rId8"/>
    <p:sldId id="260" r:id="rId9"/>
    <p:sldId id="258" r:id="rId10"/>
    <p:sldId id="273" r:id="rId11"/>
    <p:sldId id="262" r:id="rId12"/>
    <p:sldId id="272" r:id="rId13"/>
    <p:sldId id="261" r:id="rId14"/>
    <p:sldId id="263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68D5E5-E410-47DC-ADCA-658E5CCCFACE}" v="63" dt="2026-04-07T17:09:16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3E28C-D534-4F33-BF7C-2EA6E5E8142F}" type="datetimeFigureOut"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03EC3-0B74-4A98-8588-3173FF2A92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6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137160"/>
            <a:ext cx="1783080" cy="1783080"/>
          </a:xfrm>
          <a:prstGeom prst="ellipse">
            <a:avLst/>
          </a:prstGeom>
          <a:solidFill>
            <a:srgbClr val="1E5A8A">
              <a:alpha val="45000"/>
            </a:srgbClr>
          </a:solidFill>
          <a:ln w="12700">
            <a:solidFill>
              <a:srgbClr val="1E5A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5486400"/>
            <a:ext cx="1051560" cy="1051560"/>
          </a:xfrm>
          <a:prstGeom prst="ellipse">
            <a:avLst/>
          </a:prstGeom>
          <a:solidFill>
            <a:srgbClr val="1FB6B2">
              <a:alpha val="30000"/>
            </a:srgbClr>
          </a:solidFill>
          <a:ln w="12700">
            <a:solidFill>
              <a:srgbClr val="1FB6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440680"/>
            <a:ext cx="1097280" cy="109728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0080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704088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Monitoring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Monitoring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Platform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2816352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bank-grade workflow for message screening, transaction monitoring, alert handling, audit logging, and report export.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703320"/>
            <a:ext cx="1188720" cy="246888"/>
          </a:xfrm>
          <a:prstGeom prst="rect">
            <a:avLst/>
          </a:prstGeom>
          <a:solidFill>
            <a:srgbClr val="1FB6B2"/>
          </a:solidFill>
          <a:ln>
            <a:solidFill>
              <a:srgbClr val="1FB6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38528" y="3703320"/>
            <a:ext cx="1207008" cy="2468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27832" y="3703320"/>
            <a:ext cx="1298448" cy="246888"/>
          </a:xfrm>
          <a:prstGeom prst="rect">
            <a:avLst/>
          </a:prstGeom>
          <a:solidFill>
            <a:srgbClr val="E45756"/>
          </a:solidFill>
          <a:ln>
            <a:solidFill>
              <a:srgbClr val="E4575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1143000" cy="24688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914400"/>
            <a:ext cx="3977640" cy="4526280"/>
          </a:xfrm>
          <a:prstGeom prst="roundRect">
            <a:avLst>
              <a:gd name="adj" fmla="val 1839"/>
            </a:avLst>
          </a:prstGeom>
          <a:solidFill>
            <a:srgbClr val="163A5F"/>
          </a:solidFill>
          <a:ln w="12700">
            <a:solidFill>
              <a:srgbClr val="2F567D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17536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82128" y="1719072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18288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rot="5400000">
            <a:off x="9144000" y="2276856"/>
            <a:ext cx="548640" cy="219456"/>
          </a:xfrm>
          <a:prstGeom prst="chevron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82128" y="2615184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2724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rot="5400000">
            <a:off x="9144000" y="3172968"/>
            <a:ext cx="548640" cy="219456"/>
          </a:xfrm>
          <a:prstGeom prst="chevron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82128" y="3511296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36210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rot="5400000">
            <a:off x="9144000" y="4069080"/>
            <a:ext cx="548640" cy="219456"/>
          </a:xfrm>
          <a:prstGeom prst="chevron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4407408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45171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Actions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35824" y="509320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rule-based checks, ML scores, and customer context.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" y="59618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analysts, bankers, compliance teams, and admins.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64798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3891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system solves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95528"/>
            <a:ext cx="109728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200" b="1" dirty="0"/>
              <a:t>The app merges fraud detection, case handling, and compliance evidence in one operational flow.</a:t>
            </a:r>
            <a:endParaRPr lang="en-US" sz="1200" b="1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4827" y="6481728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Fraud Monitoring &amp; Risk Scoring Platform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FF7ED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417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Operational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3154680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</a:rPr>
              <a:t>Fraud teams need a fast way to spot risky messages and transactions before losses grow. Manual review is slow and scattered across tools.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160520" y="123444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EAF2FF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25112" y="1417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Platform response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25112" y="1755648"/>
            <a:ext cx="3154680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B53"/>
                </a:solidFill>
              </a:rPr>
              <a:t>This platform scores messages and transactions, creates alerts when thresholds are crossed, and lets users act immediately from the dashboard.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123444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28432" y="1417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Where it helps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28432" y="1755648"/>
            <a:ext cx="3154680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</a:rPr>
              <a:t>It supports customer protection, fraud investigation, compliance review, admin oversight, and exported reporting for leadership or audit.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Core modules in the code base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3382" y="4219265"/>
            <a:ext cx="5185898" cy="26780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424" y="4323601"/>
            <a:ext cx="4800860" cy="1397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</a:rPr>
              <a:t>• Authentication and role checks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6035040" y="4206240"/>
            <a:ext cx="51663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4251960"/>
            <a:ext cx="4892040" cy="1463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</a:rPr>
              <a:t>• Message verification and prediction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02920" y="4590288"/>
            <a:ext cx="51663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4636008"/>
            <a:ext cx="4892040" cy="1463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</a:rPr>
              <a:t>• Transaction monitoring and prediction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6035040" y="4590288"/>
            <a:ext cx="51663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4636008"/>
            <a:ext cx="4892040" cy="1463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</a:rPr>
              <a:t>• Customer profiles and risk scores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502920" y="4974336"/>
            <a:ext cx="51663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5020056"/>
            <a:ext cx="4892040" cy="1463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</a:rPr>
              <a:t>• Alerts queue, actions, and case notes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35040" y="4974336"/>
            <a:ext cx="51663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5020056"/>
            <a:ext cx="4892040" cy="1463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</a:rPr>
              <a:t>• Reports, exports, and admin table browser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09601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73152"/>
          </a:xfrm>
          <a:prstGeom prst="rect">
            <a:avLst/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73152"/>
            <a:ext cx="1325880" cy="1325880"/>
          </a:xfrm>
          <a:prstGeom prst="ellipse">
            <a:avLst/>
          </a:prstGeom>
          <a:solidFill>
            <a:srgbClr val="EAF3FF">
              <a:alpha val="82000"/>
            </a:srgbClr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5623560"/>
            <a:ext cx="1005840" cy="1005840"/>
          </a:xfrm>
          <a:prstGeom prst="ellipse">
            <a:avLst/>
          </a:prstGeom>
          <a:solidFill>
            <a:srgbClr val="FFF4DB">
              <a:alpha val="85000"/>
            </a:srgbClr>
          </a:solidFill>
          <a:ln w="12700">
            <a:solidFill>
              <a:srgbClr val="FFF4D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206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 Modules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80467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Business-facing features exposed by the Flask application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7452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DFF7F7"/>
          </a:solidFill>
          <a:ln w="12700">
            <a:solidFill>
              <a:srgbClr val="1FB6B2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057400"/>
            <a:ext cx="384048" cy="384048"/>
          </a:xfrm>
          <a:prstGeom prst="ellipse">
            <a:avLst/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780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Verify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messages and stores predictions.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96512" y="187452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FFF4DB"/>
          </a:solidFill>
          <a:ln w="12700">
            <a:solidFill>
              <a:srgbClr val="F59E0B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1104" y="20574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1104" y="24780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Monitor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61104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transactions by search, amount, and risk.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52944" y="187452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DCEAFF"/>
          </a:solidFill>
          <a:ln w="12700">
            <a:solidFill>
              <a:srgbClr val="3B82F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17536" y="205740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17536" y="24780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Profile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17536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messages, txns, alerts, and risk score.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E9F9EE"/>
          </a:solidFill>
          <a:ln w="12700">
            <a:solidFill>
              <a:srgbClr val="2F9E44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840480"/>
            <a:ext cx="384048" cy="384048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261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Queue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queue for open, escalated, and closed alerts.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96512" y="365760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FDECEC"/>
          </a:solidFill>
          <a:ln w="12700">
            <a:solidFill>
              <a:srgbClr val="E4575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61104" y="3840480"/>
            <a:ext cx="384048" cy="384048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61104" y="4261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61104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CSV, Excel, and PDF outputs.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52944" y="365760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17536" y="384048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17536" y="4261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Settings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17536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rule thresholds and keeps audit trace.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34924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77824" y="5577840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is organized as Flask blueprints: auth, main, api, admin, and reports - each handling a specific workflow and role boundary.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59259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73152"/>
          </a:xfrm>
          <a:prstGeom prst="rect">
            <a:avLst/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73152"/>
            <a:ext cx="1325880" cy="1325880"/>
          </a:xfrm>
          <a:prstGeom prst="ellipse">
            <a:avLst/>
          </a:prstGeom>
          <a:solidFill>
            <a:srgbClr val="EAF3FF">
              <a:alpha val="82000"/>
            </a:srgbClr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5623560"/>
            <a:ext cx="1005840" cy="1005840"/>
          </a:xfrm>
          <a:prstGeom prst="ellipse">
            <a:avLst/>
          </a:prstGeom>
          <a:solidFill>
            <a:srgbClr val="FFF4DB">
              <a:alpha val="85000"/>
            </a:srgbClr>
          </a:solidFill>
          <a:ln w="12700">
            <a:solidFill>
              <a:srgbClr val="FFF4D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206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80467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message or transaction becomes an alert and case action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847088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EAF7F7"/>
          </a:solidFill>
          <a:ln w="12700">
            <a:solidFill>
              <a:srgbClr val="1FB6B2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4088" y="1993392"/>
            <a:ext cx="411480" cy="411480"/>
          </a:xfrm>
          <a:prstGeom prst="ellipse">
            <a:avLst/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0574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1975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event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25420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message or transaction is submitted through the UI or API.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64992" y="2679192"/>
            <a:ext cx="320040" cy="182880"/>
          </a:xfrm>
          <a:prstGeom prst="chevron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1847088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FF4DB"/>
          </a:solidFill>
          <a:ln w="12700">
            <a:solidFill>
              <a:srgbClr val="F59E0B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93592" y="199339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20574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96512" y="1975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risk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21024" y="25420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 + ML + customer context generate a score and category.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4496" y="2679192"/>
            <a:ext cx="320040" cy="182880"/>
          </a:xfrm>
          <a:prstGeom prst="chevron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5936" y="1847088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EEF4FF"/>
          </a:solidFill>
          <a:ln w="12700">
            <a:solidFill>
              <a:srgbClr val="3B82F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83096" y="1993392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20574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86016" y="1975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alert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25420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events automatically create an open alert.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2679192"/>
            <a:ext cx="320040" cy="182880"/>
          </a:xfrm>
          <a:prstGeom prst="chevron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5440" y="1847088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DECEC"/>
          </a:solidFill>
          <a:ln w="12700">
            <a:solidFill>
              <a:srgbClr val="E4575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72600" y="1993392"/>
            <a:ext cx="411480" cy="411480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20574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75520" y="1975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action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400032" y="25420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call, freeze, escalate, or mark safe.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31596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4526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outcomes by risk level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49040" y="45720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E9F9EE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4690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9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749040" y="491032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only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0" y="45720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EAF3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4690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0" y="491032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43800" y="45720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FF4D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4690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543800" y="491032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customer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601200" y="45720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DECEC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0" y="4690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5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601200" y="491032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+ escalate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30052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Audit Trail, and Reporting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The platform is designed for traceability and safe handling of customer information.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Control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1521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Operational controls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4"/>
                </a:solidFill>
              </a:rPr>
              <a:t>Authentication, masking, and evidence generation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19385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231136"/>
            <a:ext cx="2578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Flask-Login controls access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Passwords are stored as hashes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Login and logout are audited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712464" y="182880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0" y="19385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Role control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0480" y="2231136"/>
            <a:ext cx="2578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Banker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Fraud Analyst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Compliance Officer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Admin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1E6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94576" y="193852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Data masking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94576" y="2231136"/>
            <a:ext cx="2441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Phone, email, and account values are masked before display or review.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710928" y="1828800"/>
            <a:ext cx="1755648" cy="1783080"/>
          </a:xfrm>
          <a:prstGeom prst="roundRect">
            <a:avLst>
              <a:gd name="adj" fmla="val 4167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38944" y="19385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Audit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38944" y="2231136"/>
            <a:ext cx="1499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D3D"/>
                </a:solidFill>
              </a:rPr>
              <a:t>Every key action is recorded for review.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58368" y="3822192"/>
            <a:ext cx="53035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" y="393192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Reports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" y="4224528"/>
            <a:ext cx="5047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• CSV export for quick data sharing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• Excel export for analyst workbooks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• PDF export for formatted compliance packs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199632" y="3822192"/>
            <a:ext cx="5266944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27648" y="3931920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27648" y="4224528"/>
            <a:ext cx="5010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 fraud workflow must be explainable after the event. The code keeps prediction, action, and audit data separate so investigations are defensible.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58368" y="5623560"/>
            <a:ext cx="10972800" cy="621792"/>
          </a:xfrm>
          <a:prstGeom prst="roundRect">
            <a:avLst>
              <a:gd name="adj" fmla="val 4412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806440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Security and evidence are first-class features, not add-ons.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&amp; User Journey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A single submission moves through validation, scoring, response, and audit.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8F6F2"/>
          </a:solidFill>
          <a:ln w="12700">
            <a:solidFill>
              <a:srgbClr val="E8F6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1521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the app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4"/>
                </a:solidFill>
              </a:rPr>
              <a:t>The same pattern is used for message verification and transaction monitoring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71016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" y="263347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Input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Message, transaction, or admin request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2487168" y="2551176"/>
            <a:ext cx="164592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07792" y="182880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20440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17520" y="263347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Persist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80944" y="28529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Flask route saves the record with SQLAlchemy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736592" y="2551176"/>
            <a:ext cx="164592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57216" y="182880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FFF1E6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9864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66944" y="263347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28529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Rules engine + ML model + customer context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986016" y="2551176"/>
            <a:ext cx="164592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06640" y="182880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19288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9288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16368" y="263347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Decide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79792" y="28529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Safe, suspicious, high-risk, or critical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9235440" y="2551176"/>
            <a:ext cx="164592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56064" y="1828800"/>
            <a:ext cx="1700784" cy="1444752"/>
          </a:xfrm>
          <a:prstGeom prst="roundRect">
            <a:avLst>
              <a:gd name="adj" fmla="val 5063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268712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68712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65792" y="26334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Act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729216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Create alert, log action, and update status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685800" y="374904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13816" y="38587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53B5C"/>
                </a:solidFill>
              </a:rPr>
              <a:t>Detection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13816" y="4151376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243B53"/>
                </a:solidFill>
              </a:rPr>
              <a:t>Message rules look for OTP requests, </a:t>
            </a:r>
            <a:r>
              <a:rPr lang="en-US" sz="1100" dirty="0" err="1">
                <a:solidFill>
                  <a:srgbClr val="243B53"/>
                </a:solidFill>
              </a:rPr>
              <a:t>urgency,impersonation</a:t>
            </a:r>
            <a:r>
              <a:rPr lang="en-US" sz="1100" dirty="0">
                <a:solidFill>
                  <a:srgbClr val="243B53"/>
                </a:solidFill>
              </a:rPr>
              <a:t>, links, and callback </a:t>
            </a:r>
            <a:r>
              <a:rPr lang="en-US" sz="1100" dirty="0" err="1">
                <a:solidFill>
                  <a:srgbClr val="243B53"/>
                </a:solidFill>
              </a:rPr>
              <a:t>traps.Transaction</a:t>
            </a:r>
            <a:r>
              <a:rPr lang="en-US" sz="1100" dirty="0">
                <a:solidFill>
                  <a:srgbClr val="243B53"/>
                </a:solidFill>
              </a:rPr>
              <a:t> rules look for amount, </a:t>
            </a:r>
            <a:r>
              <a:rPr lang="en-US" sz="1100" dirty="0" err="1">
                <a:solidFill>
                  <a:srgbClr val="243B53"/>
                </a:solidFill>
              </a:rPr>
              <a:t>geomismatch</a:t>
            </a:r>
            <a:r>
              <a:rPr lang="en-US" sz="1100" dirty="0">
                <a:solidFill>
                  <a:srgbClr val="243B53"/>
                </a:solidFill>
              </a:rPr>
              <a:t>, risky beneficiaries, and timing.</a:t>
            </a:r>
            <a:endParaRPr lang="en-US" sz="1100" dirty="0"/>
          </a:p>
          <a:p>
            <a:pPr marL="0" indent="0">
              <a:buNone/>
            </a:pPr>
            <a:endParaRPr lang="en-US" sz="1050" dirty="0">
              <a:solidFill>
                <a:srgbClr val="1F2D3D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53712" y="374904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81728" y="38587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53B5C"/>
                </a:solidFill>
              </a:rPr>
              <a:t>Decision</a:t>
            </a:r>
            <a:endParaRPr lang="en-US" sz="1500" b="1" dirty="0">
              <a:solidFill>
                <a:srgbClr val="153B5C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4681728" y="4151376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243B53"/>
                </a:solidFill>
              </a:rPr>
              <a:t>High scores create an alert with severity. </a:t>
            </a:r>
            <a:r>
              <a:rPr lang="en-US" sz="1100" dirty="0" err="1">
                <a:solidFill>
                  <a:srgbClr val="243B53"/>
                </a:solidFill>
              </a:rPr>
              <a:t>Userscan</a:t>
            </a:r>
            <a:r>
              <a:rPr lang="en-US" sz="1100" dirty="0">
                <a:solidFill>
                  <a:srgbClr val="243B53"/>
                </a:solidFill>
              </a:rPr>
              <a:t> call the customer, freeze the </a:t>
            </a:r>
            <a:r>
              <a:rPr lang="en-US" sz="1100" dirty="0" err="1">
                <a:solidFill>
                  <a:srgbClr val="243B53"/>
                </a:solidFill>
              </a:rPr>
              <a:t>account,request</a:t>
            </a:r>
            <a:r>
              <a:rPr lang="en-US" sz="1100" dirty="0">
                <a:solidFill>
                  <a:srgbClr val="243B53"/>
                </a:solidFill>
              </a:rPr>
              <a:t> KYC, escalate, or mark the case safe.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8412480" y="3749040"/>
            <a:ext cx="2670048" cy="1645920"/>
          </a:xfrm>
          <a:prstGeom prst="roundRect">
            <a:avLst>
              <a:gd name="adj" fmla="val 4444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540496" y="385876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53B5C"/>
                </a:solidFill>
              </a:rPr>
              <a:t>Evidence</a:t>
            </a:r>
          </a:p>
        </p:txBody>
      </p:sp>
      <p:sp>
        <p:nvSpPr>
          <p:cNvPr id="49" name="Text 47"/>
          <p:cNvSpPr/>
          <p:nvPr/>
        </p:nvSpPr>
        <p:spPr>
          <a:xfrm>
            <a:off x="8540496" y="4151376"/>
            <a:ext cx="2414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243B53"/>
                </a:solidFill>
              </a:rPr>
              <a:t>The system writes audit logs and action </a:t>
            </a:r>
            <a:r>
              <a:rPr lang="en-US" sz="1100" dirty="0" err="1">
                <a:solidFill>
                  <a:srgbClr val="243B53"/>
                </a:solidFill>
              </a:rPr>
              <a:t>logs,then</a:t>
            </a:r>
            <a:r>
              <a:rPr lang="en-US" sz="1100" dirty="0">
                <a:solidFill>
                  <a:srgbClr val="243B53"/>
                </a:solidFill>
              </a:rPr>
              <a:t> exports CSV, Excel, and PDF reports </a:t>
            </a:r>
            <a:r>
              <a:rPr lang="en-US" sz="1100" dirty="0" err="1">
                <a:solidFill>
                  <a:srgbClr val="243B53"/>
                </a:solidFill>
              </a:rPr>
              <a:t>forreview</a:t>
            </a:r>
            <a:r>
              <a:rPr lang="en-US" sz="1100" dirty="0">
                <a:solidFill>
                  <a:srgbClr val="243B53"/>
                </a:solidFill>
              </a:rPr>
              <a:t> and governance.</a:t>
            </a:r>
          </a:p>
        </p:txBody>
      </p:sp>
      <p:sp>
        <p:nvSpPr>
          <p:cNvPr id="50" name="Shape 48"/>
          <p:cNvSpPr/>
          <p:nvPr/>
        </p:nvSpPr>
        <p:spPr>
          <a:xfrm>
            <a:off x="685800" y="5650992"/>
            <a:ext cx="10424160" cy="475488"/>
          </a:xfrm>
          <a:prstGeom prst="roundRect">
            <a:avLst>
              <a:gd name="adj" fmla="val 7692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5769864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Each stage has a single responsibility: ingest, score, act, and record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3891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layer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9552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</a:rPr>
              <a:t>The platform combines rule-based logic with machine learning and customer history.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Fraud Monitoring &amp; Risk Scoring Platform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70248" y="118872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EAFBF7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83296" y="1188720"/>
            <a:ext cx="3648456" cy="4846320"/>
          </a:xfrm>
          <a:prstGeom prst="roundRect">
            <a:avLst>
              <a:gd name="adj" fmla="val 2005"/>
            </a:avLst>
          </a:prstGeom>
          <a:solidFill>
            <a:srgbClr val="ECFDF5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Message scoring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OTP / PIN / CVV requests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urgency language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impersonation of bank or RBI terms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short links and malformed URLs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callback and attachment bait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8848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Transaction scoring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17830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high-value transfers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geo mismatch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risky beneficiary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scam-message timing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repeated small transfers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international or cash-withdrawal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11896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Customer risk 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9328" y="1783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complaints and device changes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location mismatch 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vulnerability indicator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KYC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alerts and suspicious history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480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How risk score is formed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782312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B53"/>
                </a:solidFill>
              </a:rPr>
              <a:t>final score = rules weight + model probability + anomaly score + customer risk + link / urgency boosts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6998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The implementation uses a standard Python web stack with machine learning and report generation libraries.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3ECFF"/>
          </a:solidFill>
          <a:ln w="12700">
            <a:solidFill>
              <a:srgbClr val="F3EC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Stack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1521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Technical components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4"/>
                </a:solidFill>
              </a:rPr>
              <a:t>Languages, frameworks, ORM, ML, and output tooling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19385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Backend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231136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Flask blueprints, routing, request handling, login protection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77640" y="182880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05656" y="19385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Frontend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05656" y="2231136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Jinja templates, HTML tables/forms, CSS cards and dashboards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96912" y="182880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1E6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24928" y="19385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Persistence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24928" y="2231136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SQLAlchemy models for users, customers, predictions, alerts, logs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6384" y="3511296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ML / AI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6384" y="3803904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scikit-learn models loaded with joblib; vectorizer + classifier + anomaly model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77640" y="3401568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05656" y="3511296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Reporting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05656" y="3803904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CSV, Excel via openpyxl, and PDF via ReportLab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96912" y="3401568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EEF9EE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24928" y="3511296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Security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24928" y="3803904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Flask-Login, password hashing, masking utilities, role checks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" y="4937760"/>
            <a:ext cx="10972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6384" y="5047488"/>
            <a:ext cx="1071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Included libraries and services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86384" y="5340096"/>
            <a:ext cx="10716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D3D"/>
                </a:solidFill>
              </a:rPr>
              <a:t>Flask • Flask-Login • SQLAlchemy • pandas • scikit-learn models loaded via joblib • openpyxl • ReportLab • csv • json • 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9536" y="5943600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53B5C"/>
                </a:solidFill>
              </a:rPr>
              <a:t>The code is structured as a layered monolith: web routes call service functions, services update ORM models, and the UI renders the results.</a:t>
            </a:r>
            <a:endParaRPr lang="en-US" sz="11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How the browser, Flask backend, services, ORM, and outputs connect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Browser / UI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Jinja-rendered HTML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CSS cards, tables, forms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Dashboard, verification, alerts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715768" y="2039112"/>
            <a:ext cx="182880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7792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35808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Flask blueprints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35808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auth.py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main.py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api.py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admin.py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reports.py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965192" y="2039112"/>
            <a:ext cx="182880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57216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FFF1E6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85232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Service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85232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risk_service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audit_service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report_service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rules_engine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ml_service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214616" y="2039112"/>
            <a:ext cx="182880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06640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EEF9EE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34656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ORM / 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34656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SQLAlchemy models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User, Customer,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Message, Transaction,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Alert, Logs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464040" y="2039112"/>
            <a:ext cx="182880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56064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84080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Outputs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0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Alerts, actions, audit logs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CSV/XLSX/PDF reports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JSON APIs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58368" y="3063240"/>
            <a:ext cx="37216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6384" y="3172968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Request flow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6384" y="3465576"/>
            <a:ext cx="34655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1. User submits message or transaction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2. Flask route stores input through SQLAlchemy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3. Scoring service combines rules, ML, and customer profile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4. Prediction row is saved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5. High risk creates an alert and log entry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26280" y="3063240"/>
            <a:ext cx="38039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54296" y="31729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Operational flow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54296" y="3465576"/>
            <a:ext cx="3547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1. Open alert is assigned to a role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2. Analyst can call, escalate, freeze, or mark safe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3. Actions are written to ActionLog and AuditLog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4. Compliance can export evidence for review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67928" y="306324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95944" y="31729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Key design point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695944" y="3465576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The app is a hybrid decision system, not an ML-only model. It combines business rules, machine learning, anomaly detection, and customer context.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658368" y="5138928"/>
            <a:ext cx="10588752" cy="987552"/>
          </a:xfrm>
          <a:prstGeom prst="roundRect">
            <a:avLst>
              <a:gd name="adj" fmla="val 2778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" y="5321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takeaway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9536" y="55961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F6FC"/>
                </a:solidFill>
              </a:rPr>
              <a:t>The code separates UI, routing, scoring, persistence, and reporting into distinct layers, which makes the system easier to maintain, test, and extend.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324B"/>
          </a:solidFill>
          <a:ln w="12700">
            <a:solidFill>
              <a:srgbClr val="1432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85688"/>
            <a:ext cx="11379721" cy="564731"/>
          </a:xfrm>
          <a:prstGeom prst="rect">
            <a:avLst/>
          </a:prstGeom>
          <a:solidFill>
            <a:srgbClr val="14324B"/>
          </a:solidFill>
          <a:ln w="12700">
            <a:solidFill>
              <a:srgbClr val="1432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297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Flask backend design</a:t>
            </a:r>
            <a:endParaRPr lang="en-US" sz="2400" dirty="0">
              <a:latin typeface="Aptos Display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6"/>
                </a:solidFill>
              </a:rPr>
              <a:t>Blueprints, decorators, request handlers, flash messaging, and API endpoints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EAF3FF"/>
          </a:solidFill>
          <a:ln w="12700">
            <a:solidFill>
              <a:srgbClr val="D9E3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" y="140817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auth.py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1682496"/>
            <a:ext cx="2487168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Login, logout, register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Password hashing through </a:t>
            </a:r>
            <a:r>
              <a:rPr lang="en-US" sz="1400" dirty="0" err="1">
                <a:solidFill>
                  <a:srgbClr val="17324D"/>
                </a:solidFill>
              </a:rPr>
              <a:t>User.set_password</a:t>
            </a:r>
            <a:r>
              <a:rPr lang="en-US" sz="1400" dirty="0">
                <a:solidFill>
                  <a:srgbClr val="17324D"/>
                </a:solidFill>
              </a:rPr>
              <a:t>()</a:t>
            </a:r>
            <a:endParaRPr lang="en-US" sz="1400"/>
          </a:p>
          <a:p>
            <a:pPr marL="0" indent="0">
              <a:buNone/>
            </a:pPr>
            <a:r>
              <a:rPr lang="en-US" sz="1400" dirty="0" err="1">
                <a:solidFill>
                  <a:srgbClr val="17324D"/>
                </a:solidFill>
              </a:rPr>
              <a:t>login_user</a:t>
            </a:r>
            <a:r>
              <a:rPr lang="en-US" sz="1400" dirty="0">
                <a:solidFill>
                  <a:srgbClr val="17324D"/>
                </a:solidFill>
              </a:rPr>
              <a:t> / </a:t>
            </a:r>
            <a:r>
              <a:rPr lang="en-US" sz="1400" dirty="0" err="1">
                <a:solidFill>
                  <a:srgbClr val="17324D"/>
                </a:solidFill>
              </a:rPr>
              <a:t>logout_user</a:t>
            </a:r>
            <a:endParaRPr lang="en-US" sz="1400" err="1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Audit log on logout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Redirects to dashboard after success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93008" y="1298448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E8F7F5"/>
          </a:solidFill>
          <a:ln w="12700">
            <a:solidFill>
              <a:srgbClr val="D9E3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140817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main.py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21024" y="1682496"/>
            <a:ext cx="2487168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Main dashboard and workflows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Message verify and transaction monitor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Alert actions: call, freeze, escalate, safe, fraud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Customer profile and audit pages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Export routes for logs and reports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19088" y="1298448"/>
            <a:ext cx="2651760" cy="4526280"/>
          </a:xfrm>
          <a:prstGeom prst="roundRect">
            <a:avLst>
              <a:gd name="adj" fmla="val 2759"/>
            </a:avLst>
          </a:prstGeom>
          <a:solidFill>
            <a:srgbClr val="FFF1E4"/>
          </a:solidFill>
          <a:ln w="12700">
            <a:solidFill>
              <a:srgbClr val="D9E3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47104" y="1408176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api.py + reports.py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47104" y="1682496"/>
            <a:ext cx="2395728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7324D"/>
                </a:solidFill>
              </a:rPr>
              <a:t>JSON prediction endpoints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Integrated alert creation for high-risk cases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Action API to freeze / call / escalate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Report generation endpoint returning files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35440" y="1298448"/>
            <a:ext cx="2377440" cy="4526280"/>
          </a:xfrm>
          <a:prstGeom prst="roundRect">
            <a:avLst>
              <a:gd name="adj" fmla="val 3077"/>
            </a:avLst>
          </a:prstGeom>
          <a:solidFill>
            <a:srgbClr val="EAF7EE"/>
          </a:solidFill>
          <a:ln w="12700">
            <a:solidFill>
              <a:srgbClr val="D9E3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63456" y="1408176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admin.py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63456" y="1682496"/>
            <a:ext cx="2121408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Admin-only table browser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Paginated model inspection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Dynamic model mapping for operational review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" y="6053328"/>
            <a:ext cx="10607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6144768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324D"/>
                </a:solidFill>
              </a:rPr>
              <a:t>Common Flask patterns used: @login_required, role checks, request.form / request.get_json(), jsonify(), render_template(), redirect(), flash().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208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Models and Rules Engine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The score is computed by blending rule-based indicators, model probabilities, anomaly scores, and customer risk.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ML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1521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the intelligence layer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4"/>
                </a:solidFill>
              </a:rPr>
              <a:t>Rules are deterministic, ML is probabilistic, and the final score is fused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193852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Message 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231136"/>
            <a:ext cx="2624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Loaded from message_model.joblib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Uses message_vectorizer.joblib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`predict_message_probability(text)`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Best for scam-like language probability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749040" y="18288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77056" y="193852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Transaction ML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77056" y="2231136"/>
            <a:ext cx="2624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Loaded from </a:t>
            </a:r>
            <a:r>
              <a:rPr lang="en-US" sz="1050" dirty="0" err="1">
                <a:solidFill>
                  <a:srgbClr val="1F2D3D"/>
                </a:solidFill>
              </a:rPr>
              <a:t>transaction_model.joblib</a:t>
            </a:r>
            <a:endParaRPr lang="en-US" sz="1050" dirty="0" err="1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`</a:t>
            </a:r>
            <a:r>
              <a:rPr lang="en-US" sz="1050" dirty="0" err="1">
                <a:solidFill>
                  <a:srgbClr val="1F2D3D"/>
                </a:solidFill>
              </a:rPr>
              <a:t>predict_transaction_probability</a:t>
            </a:r>
            <a:r>
              <a:rPr lang="en-US" sz="1050" dirty="0">
                <a:solidFill>
                  <a:srgbClr val="1F2D3D"/>
                </a:solidFill>
              </a:rPr>
              <a:t>(features)`</a:t>
            </a:r>
            <a:endParaRPr lang="en-US" sz="105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Works on numeric transaction features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Produces fraud probability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839712" y="18288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67728" y="193852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Anomaly detection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67728" y="2231136"/>
            <a:ext cx="2624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Loaded from transaction_isolation.joblib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`anomaly_score(features)`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Detects unusual transactions even without labels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930384" y="1828800"/>
            <a:ext cx="1600200" cy="2057400"/>
          </a:xfrm>
          <a:prstGeom prst="roundRect">
            <a:avLst>
              <a:gd name="adj" fmla="val 4571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0" y="193852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Rules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0" y="2231136"/>
            <a:ext cx="1344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Regex and pattern scoring for OTP, urgency, impersonation, links, and callback pressure.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4160520"/>
            <a:ext cx="54406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" y="4270248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Message scoring signals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" y="4562856"/>
            <a:ext cx="5184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OTP/PIN/CVV request • urgency language • bank impersonation • refund lure • suspicious links • sender reputation • customer risk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6309360" y="4160520"/>
            <a:ext cx="5230368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37376" y="427024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Transaction scoring signals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37376" y="4562856"/>
            <a:ext cx="49743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High amount • geo mismatch • risky beneficiary • scam-message timing • repeated small transfers • international flag • cash withdrawal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58368" y="5623560"/>
            <a:ext cx="10972800" cy="621792"/>
          </a:xfrm>
          <a:prstGeom prst="roundRect">
            <a:avLst>
              <a:gd name="adj" fmla="val 4412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806440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Final score = weighted fusion of rule score + ML probability + anomaly score + customer history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73152"/>
          </a:xfrm>
          <a:prstGeom prst="rect">
            <a:avLst/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73152"/>
            <a:ext cx="1325880" cy="1325880"/>
          </a:xfrm>
          <a:prstGeom prst="ellipse">
            <a:avLst/>
          </a:prstGeom>
          <a:solidFill>
            <a:srgbClr val="EAF3FF">
              <a:alpha val="82000"/>
            </a:srgbClr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5623560"/>
            <a:ext cx="1005840" cy="1005840"/>
          </a:xfrm>
          <a:prstGeom prst="ellipse">
            <a:avLst/>
          </a:prstGeom>
          <a:solidFill>
            <a:srgbClr val="FFF4DB">
              <a:alpha val="85000"/>
            </a:srgbClr>
          </a:solidFill>
          <a:ln w="12700">
            <a:solidFill>
              <a:srgbClr val="FFF4D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206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 and Scoring Logic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80467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used, where it is used, and how scores are combined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481328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1719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model files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" y="2029968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EAF3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13055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message_model.joblib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304288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classifier for scam probability from message body.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850392" y="2779776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FFF4D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288036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message_vectorizer.joblib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304288" y="28529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message text into features for the classifier.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850392" y="3529584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EAF3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63016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transaction_model.joblib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2304288" y="36027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 classifier for transaction fraud probability.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850392" y="4279392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FFF4D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37997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transaction_isolation.joblib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304288" y="43525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detector that boosts unusual transaction risk.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868680" y="52578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note: the repository loads serialized models, but the exact training algorithm is not shown. So the safest technical description is classifier + vectorizer + anomaly model.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526280" y="1481328"/>
            <a:ext cx="7187184" cy="4480560"/>
          </a:xfrm>
          <a:prstGeom prst="roundRect">
            <a:avLst>
              <a:gd name="adj" fmla="val 1633"/>
            </a:avLst>
          </a:prstGeom>
          <a:solidFill>
            <a:srgbClr val="FBFDFF"/>
          </a:solidFill>
          <a:ln w="12700">
            <a:solidFill>
              <a:srgbClr val="D8E1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17190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 used by the services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800600" y="2084832"/>
            <a:ext cx="6583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377440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risk = rule score + ML probability + customer risk + link / anomaly boosts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92040" y="3310128"/>
            <a:ext cx="6629400" cy="658368"/>
          </a:xfrm>
          <a:prstGeom prst="roundRect">
            <a:avLst>
              <a:gd name="adj" fmla="val 8333"/>
            </a:avLst>
          </a:prstGeom>
          <a:solidFill>
            <a:srgbClr val="DFF7F7"/>
          </a:solidFill>
          <a:ln w="12700">
            <a:solidFill>
              <a:srgbClr val="1FB6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8344" y="347472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971032" y="3456432"/>
            <a:ext cx="5285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rule score + 35% model probability + 15% customer risk + 10% link risk + urgency boost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892040" y="4169664"/>
            <a:ext cx="6629400" cy="658368"/>
          </a:xfrm>
          <a:prstGeom prst="roundRect">
            <a:avLst>
              <a:gd name="adj" fmla="val 8333"/>
            </a:avLst>
          </a:prstGeom>
          <a:solidFill>
            <a:srgbClr val="FFF4D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38344" y="433425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71032" y="4315968"/>
            <a:ext cx="5285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rule score + 30% model probability + 20% anomaly score + 15% customer risk</a:t>
            </a:r>
            <a:endParaRPr lang="en-US" sz="1020" dirty="0"/>
          </a:p>
        </p:txBody>
      </p:sp>
    </p:spTree>
    <p:extLst>
      <p:ext uri="{BB962C8B-B14F-4D97-AF65-F5344CB8AC3E}">
        <p14:creationId xmlns:p14="http://schemas.microsoft.com/office/powerpoint/2010/main" val="2062357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 &amp; SQLAlchemy Entities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These models represent users, customers, predictions, actions, audit trail, and configurations.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1521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Core tables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4"/>
                </a:solidFill>
              </a:rPr>
              <a:t>The main tables used by the application and service 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193852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Identity &amp; access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231136"/>
            <a:ext cx="23408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User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Role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active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password_hash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9584" y="182880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193852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Customer profile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2231136"/>
            <a:ext cx="23408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Customer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KYCProfile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risk factors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masked fields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1E6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28816" y="193852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Detection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28816" y="2231136"/>
            <a:ext cx="23408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Message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MessagePrediction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Transaction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TransactionPrediction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72016" y="182880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00032" y="193852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Operations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00032" y="2231136"/>
            <a:ext cx="23408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Alert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ActionLog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AuditLog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CaseNote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RuleConfiguration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4069080"/>
            <a:ext cx="10972800" cy="120700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3970" dist="12700" dir="2700000" algn="bl" rotWithShape="0">
              <a:srgbClr val="B6C6D6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261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B5C"/>
                </a:solidFill>
              </a:rPr>
              <a:t>Design advantage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455371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</a:rPr>
              <a:t>Each layer stores a different business concern: raw input, prediction, action, and audit proof. That separation makes the app easier to debug and compliant to review.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5532120"/>
            <a:ext cx="10972800" cy="731520"/>
          </a:xfrm>
          <a:prstGeom prst="roundRect">
            <a:avLst>
              <a:gd name="adj" fmla="val 3750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74243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Relationships in practice: Customer → Message / Transaction → Prediction → Alert → ActionLog / AuditLog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Layer and Operator Actions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The application exposes routes for prediction, alerts, action logging, customer views, and exports.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3ECFF"/>
          </a:solidFill>
          <a:ln w="12700">
            <a:solidFill>
              <a:srgbClr val="F3EC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API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1521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Flask routes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4"/>
                </a:solidFill>
              </a:rPr>
              <a:t>Blueprints serve HTML pages and JSON endpoints for integration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19385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Key routes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231136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/login • /dashboard • /message-verify • /transactions • /alerts • /reports • /admin/settings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67328" y="18288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95344" y="19385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Prediction APIs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95344" y="2231136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/predict/message • /predict/transaction • /api/predict/message • /api/predict/transaction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76288" y="18288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1E6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04304" y="193852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Alert APIs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04304" y="2231136"/>
            <a:ext cx="2441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/api/alerts • create_alert_from_message • create_alert_from_transaction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784080" y="1828800"/>
            <a:ext cx="1719072" cy="1828800"/>
          </a:xfrm>
          <a:prstGeom prst="roundRect">
            <a:avLst>
              <a:gd name="adj" fmla="val 4255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12096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Action APIs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12096" y="2231136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D3D"/>
                </a:solidFill>
              </a:rPr>
              <a:t>call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F2D3D"/>
                </a:solidFill>
              </a:rPr>
              <a:t>freeze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F2D3D"/>
                </a:solidFill>
              </a:rPr>
              <a:t>escalate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F2D3D"/>
                </a:solidFill>
              </a:rPr>
              <a:t>mark safe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F2D3D"/>
                </a:solidFill>
              </a:rPr>
              <a:t>mark fraud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58368" y="4069080"/>
            <a:ext cx="54132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" y="4178808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Actions saved to the database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" y="4471416"/>
            <a:ext cx="5157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ActionLog captures operator action, reason code, notes, and timestamp. AuditLog captures entity type, entity id, action, and details.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309360" y="4069080"/>
            <a:ext cx="52303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37376" y="417880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JSON outputs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37376" y="4471416"/>
            <a:ext cx="4974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The API returns message_id / transaction_id, scores, categories, reasons, keywords, and recommendations for external systems or dashboards.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58368" y="5623560"/>
            <a:ext cx="10972800" cy="621792"/>
          </a:xfrm>
          <a:prstGeom prst="roundRect">
            <a:avLst>
              <a:gd name="adj" fmla="val 4412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806440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This layer makes the same business logic usable from the UI and from API consumers.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66928"/>
            <a:ext cx="10899648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7780" dist="12700" dir="2700000" algn="bl" rotWithShape="0">
              <a:srgbClr val="A9B9C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566928"/>
            <a:ext cx="10899648" cy="960120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50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Takeaways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17043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F4"/>
                </a:solidFill>
              </a:rPr>
              <a:t>Why this system is a strong enterprise fraud-monitoring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" y="1901952"/>
            <a:ext cx="292608" cy="292608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8836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153B5C"/>
                </a:solidFill>
              </a:rPr>
              <a:t>Layered design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1325880" y="2066544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F2D3D"/>
                </a:solidFill>
              </a:rPr>
              <a:t>UI, routes, services, and persistence are separated cleanly.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932688" y="2615184"/>
            <a:ext cx="292608" cy="292608"/>
          </a:xfrm>
          <a:prstGeom prst="ellipse">
            <a:avLst/>
          </a:prstGeom>
          <a:solidFill>
            <a:srgbClr val="2EAD5B"/>
          </a:solidFill>
          <a:ln w="12700">
            <a:solidFill>
              <a:srgbClr val="2EAD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596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153B5C"/>
                </a:solidFill>
              </a:rPr>
              <a:t>Hybrid intelligence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1325880" y="2779776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F2D3D"/>
                </a:solidFill>
              </a:rPr>
              <a:t>Rules, ML, anomaly detection, and customer context work together.</a:t>
            </a:r>
            <a:endParaRPr lang="en-US" sz="1090" dirty="0"/>
          </a:p>
        </p:txBody>
      </p:sp>
      <p:sp>
        <p:nvSpPr>
          <p:cNvPr id="15" name="Shape 13"/>
          <p:cNvSpPr/>
          <p:nvPr/>
        </p:nvSpPr>
        <p:spPr>
          <a:xfrm>
            <a:off x="932688" y="332841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33101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153B5C"/>
                </a:solidFill>
              </a:rPr>
              <a:t>Operational action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1325880" y="349300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F2D3D"/>
                </a:solidFill>
              </a:rPr>
              <a:t>Analysts can respond immediately with logged actions.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932688" y="4041648"/>
            <a:ext cx="292608" cy="2926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02336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153B5C"/>
                </a:solidFill>
              </a:rPr>
              <a:t>Compliance ready</a:t>
            </a:r>
            <a:endParaRPr lang="en-US" sz="1360" dirty="0"/>
          </a:p>
        </p:txBody>
      </p:sp>
      <p:sp>
        <p:nvSpPr>
          <p:cNvPr id="20" name="Text 18"/>
          <p:cNvSpPr/>
          <p:nvPr/>
        </p:nvSpPr>
        <p:spPr>
          <a:xfrm>
            <a:off x="1325880" y="4206240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F2D3D"/>
                </a:solidFill>
              </a:rPr>
              <a:t>Audit logs and export formats support evidence and review.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6656832" y="1901952"/>
            <a:ext cx="4590288" cy="1572768"/>
          </a:xfrm>
          <a:prstGeom prst="roundRect">
            <a:avLst>
              <a:gd name="adj" fmla="val 2907"/>
            </a:avLst>
          </a:prstGeom>
          <a:solidFill>
            <a:srgbClr val="FFF1E6"/>
          </a:solidFill>
          <a:ln w="12700">
            <a:solidFill>
              <a:srgbClr val="F0D3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2121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Best presented as a story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4576" y="243230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F2D3D"/>
                </a:solidFill>
              </a:rPr>
              <a:t>1. Show the business problem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D3D"/>
                </a:solidFill>
              </a:rPr>
              <a:t>2. Explain the architecture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D3D"/>
                </a:solidFill>
              </a:rPr>
              <a:t>3. Deep dive into Flask + SQLAlchemy + ML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D3D"/>
                </a:solidFill>
              </a:rPr>
              <a:t>4. End with audit and reporting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6656832" y="3730752"/>
            <a:ext cx="4590288" cy="1481328"/>
          </a:xfrm>
          <a:prstGeom prst="roundRect">
            <a:avLst>
              <a:gd name="adj" fmla="val 3086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39502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message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94576" y="4224528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E2EEF9"/>
                </a:solidFill>
              </a:rPr>
              <a:t>This is a practical fraud platform, not just a demo. It shows how a real application can combine detection, action, and governance.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Monitoring &amp; Risk Scoring Platform</dc:title>
  <dc:subject>Fraud Monitoring System</dc:subject>
  <dc:creator>OpenAI</dc:creator>
  <cp:lastModifiedBy>OpenAI</cp:lastModifiedBy>
  <cp:revision>49</cp:revision>
  <dcterms:created xsi:type="dcterms:W3CDTF">2026-04-07T16:18:43Z</dcterms:created>
  <dcterms:modified xsi:type="dcterms:W3CDTF">2026-04-07T17:10:27Z</dcterms:modified>
</cp:coreProperties>
</file>